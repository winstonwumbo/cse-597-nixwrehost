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svg" ContentType="image/svg+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 showSpecialPlsOnTitleSld="0">
  <p:sldMasterIdLst>
    <p:sldMasterId id="2147483648" r:id="rId1"/>
  </p:sldMasterIdLst>
  <p:notesMasterIdLst>
    <p:notesMasterId r:id="rId2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2" d="100"/>
          <a:sy n="102" d="100"/>
        </p:scale>
        <p:origin x="832" y="19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 /><Relationship Id="rId23" Type="http://schemas.openxmlformats.org/officeDocument/2006/relationships/tableStyles" Target="tableStyles.xml" /><Relationship Id="rId2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69798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177085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4F9AC51-1594-3C45-9820-82036BC34A39}" type="datetimeFigureOut">
              <a:rPr lang="en-US"/>
              <a:t>8/13/25</a:t>
            </a:fld>
            <a:endParaRPr lang="en-US"/>
          </a:p>
        </p:txBody>
      </p:sp>
      <p:sp>
        <p:nvSpPr>
          <p:cNvPr id="1034183905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58876080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86734529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7740095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67B9D638-7D78-EA4A-A05B-01174BE0F3D6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84466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3178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 sz="1400"/>
          </a:p>
        </p:txBody>
      </p:sp>
      <p:sp>
        <p:nvSpPr>
          <p:cNvPr id="791596147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67B9D638-7D78-EA4A-A05B-01174BE0F3D6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78626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60613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9131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10B9D5-AB31-3059-6B03-EF44AAE3794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82646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25708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1707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F181ED-FE6A-3D74-6623-15A57E4954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53647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08569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0551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AFA8B8E-DD58-5FFA-5CFD-16A15BA782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99E69-7B0B-B805-4FA6-9A49F5ACE7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E10BFD-8C6D-0730-C460-C1E93D2C23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162240-07F4-DB86-D958-BA13859C856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EB7DD4-1BE3-DB7E-BE9F-150998AFE4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51254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91369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72466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42903D-B189-5E90-3978-4DB5B901C3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FF89F6-A560-0E30-6432-5C994E900E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5D8D99-A470-63AB-C162-5ADD5F6EAAF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B841F2-7FE9-114A-BE8D-540AC454230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603244-93FA-E852-0C4C-11A28F9D80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03A3FB-9458-54C4-2828-D71102290C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0325DE-59C1-0512-E5E5-08011CFED1D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0129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59252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78878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FAF1FE-9FD4-7525-FBB0-4A0E53D7BC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72426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2413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99825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E7E1CD2-3074-7194-9CF0-00BAF2C472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media1.sv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gradFill>
          <a:gsLst>
            <a:gs pos="0">
              <a:schemeClr val="accent1"/>
            </a:gs>
            <a:gs pos="36000">
              <a:srgbClr val="18518E"/>
            </a:gs>
            <a:gs pos="54000">
              <a:srgbClr val="1E407C"/>
            </a:gs>
            <a:gs pos="100000">
              <a:srgbClr val="001D44"/>
            </a:gs>
          </a:gsLst>
          <a:lin ang="60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298665" name="Title 1"/>
          <p:cNvSpPr>
            <a:spLocks noGrp="1"/>
          </p:cNvSpPr>
          <p:nvPr>
            <p:ph type="ctrTitle"/>
          </p:nvPr>
        </p:nvSpPr>
        <p:spPr bwMode="auto">
          <a:xfrm>
            <a:off x="1066799" y="1083348"/>
            <a:ext cx="10056813" cy="2519363"/>
          </a:xfrm>
        </p:spPr>
        <p:txBody>
          <a:bodyPr anchor="b"/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1042569" name="Subtitle 2"/>
          <p:cNvSpPr>
            <a:spLocks noGrp="1"/>
          </p:cNvSpPr>
          <p:nvPr>
            <p:ph type="subTitle" idx="1"/>
          </p:nvPr>
        </p:nvSpPr>
        <p:spPr bwMode="auto">
          <a:xfrm>
            <a:off x="1066799" y="3833266"/>
            <a:ext cx="10056813" cy="1274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grpSp>
        <p:nvGrpSpPr>
          <p:cNvPr id="1715803271" name="CommCnrShld Graphic" hidden="1"/>
          <p:cNvGrpSpPr/>
          <p:nvPr userDrawn="1"/>
        </p:nvGrpSpPr>
        <p:grpSpPr bwMode="auto">
          <a:xfrm>
            <a:off x="8153399" y="2011680"/>
            <a:ext cx="4038601" cy="4846321"/>
            <a:chOff x="9550401" y="3688081"/>
            <a:chExt cx="2641599" cy="3169919"/>
          </a:xfrm>
        </p:grpSpPr>
        <p:sp>
          <p:nvSpPr>
            <p:cNvPr id="13" name="Corner Shield Shape Right"/>
            <p:cNvSpPr/>
            <p:nvPr/>
          </p:nvSpPr>
          <p:spPr bwMode="auto">
            <a:xfrm>
              <a:off x="9799087" y="3700789"/>
              <a:ext cx="2392913" cy="3157211"/>
            </a:xfrm>
            <a:custGeom>
              <a:avLst/>
              <a:gdLst>
                <a:gd name="connsiteX0" fmla="*/ 0 w 1637473"/>
                <a:gd name="connsiteY0" fmla="*/ 2160483 h 2160483"/>
                <a:gd name="connsiteX1" fmla="*/ 1637474 w 1637473"/>
                <a:gd name="connsiteY1" fmla="*/ 2160483 h 2160483"/>
                <a:gd name="connsiteX2" fmla="*/ 1637474 w 1637473"/>
                <a:gd name="connsiteY2" fmla="*/ 0 h 2160483"/>
                <a:gd name="connsiteX3" fmla="*/ 0 w 1637473"/>
                <a:gd name="connsiteY3" fmla="*/ 2160483 h 2160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37473" h="2160483" fill="norm" stroke="1" extrusionOk="0">
                  <a:moveTo>
                    <a:pt x="0" y="2160483"/>
                  </a:moveTo>
                  <a:lnTo>
                    <a:pt x="1637474" y="2160483"/>
                  </a:lnTo>
                  <a:lnTo>
                    <a:pt x="1637474" y="0"/>
                  </a:lnTo>
                  <a:cubicBezTo>
                    <a:pt x="1637474" y="1113830"/>
                    <a:pt x="688808" y="1755720"/>
                    <a:pt x="0" y="2160483"/>
                  </a:cubicBezTo>
                  <a:close/>
                </a:path>
              </a:pathLst>
            </a:custGeom>
            <a:solidFill>
              <a:srgbClr val="1E407C"/>
            </a:solidFill>
            <a:ln w="121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pic>
          <p:nvPicPr>
            <p:cNvPr id="14" name="Comm Shield Corner"/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/>
          </p:blipFill>
          <p:spPr bwMode="auto">
            <a:xfrm>
              <a:off x="9550401" y="3688081"/>
              <a:ext cx="2641599" cy="3169919"/>
            </a:xfrm>
            <a:prstGeom prst="rect">
              <a:avLst/>
            </a:prstGeom>
          </p:spPr>
        </p:pic>
      </p:grpSp>
      <p:sp>
        <p:nvSpPr>
          <p:cNvPr id="37946256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E944EA1-8BCD-964C-87E6-31892231A579}" type="datetime1">
              <a:rPr lang="en-US"/>
              <a:t>8/13/25</a:t>
            </a:fld>
            <a:endParaRPr lang="en-US"/>
          </a:p>
        </p:txBody>
      </p:sp>
      <p:sp>
        <p:nvSpPr>
          <p:cNvPr id="82671659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2105034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E1D1B55-F3E9-1242-8F18-D40061936871}" type="slidenum">
              <a:rPr lang="en-US"/>
              <a:t>‹#›</a:t>
            </a:fld>
            <a:endParaRPr lang="en-US"/>
          </a:p>
        </p:txBody>
      </p:sp>
      <p:cxnSp>
        <p:nvCxnSpPr>
          <p:cNvPr id="199807660" name="Straight Connector 10"/>
          <p:cNvCxnSpPr/>
          <p:nvPr userDrawn="1"/>
        </p:nvCxnSpPr>
        <p:spPr bwMode="auto">
          <a:xfrm>
            <a:off x="1168924" y="3660228"/>
            <a:ext cx="9954688" cy="0"/>
          </a:xfrm>
          <a:prstGeom prst="line">
            <a:avLst/>
          </a:prstGeom>
          <a:ln w="12700" cmpd="sng">
            <a:solidFill>
              <a:schemeClr val="tx2">
                <a:lumMod val="90000"/>
              </a:schemeClr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bg>
      <p:bgPr shadeToTitle="0">
        <a:gradFill>
          <a:gsLst>
            <a:gs pos="0">
              <a:schemeClr val="accent1"/>
            </a:gs>
            <a:gs pos="36000">
              <a:srgbClr val="18518E"/>
            </a:gs>
            <a:gs pos="54000">
              <a:srgbClr val="1E407C"/>
            </a:gs>
            <a:gs pos="100000">
              <a:srgbClr val="001D44"/>
            </a:gs>
          </a:gsLst>
          <a:lin ang="60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7948726" name="Title 1"/>
          <p:cNvSpPr>
            <a:spLocks noGrp="1"/>
          </p:cNvSpPr>
          <p:nvPr>
            <p:ph type="title"/>
          </p:nvPr>
        </p:nvSpPr>
        <p:spPr bwMode="auto">
          <a:xfrm>
            <a:off x="1066799" y="832824"/>
            <a:ext cx="10056814" cy="2743200"/>
          </a:xfrm>
        </p:spPr>
        <p:txBody>
          <a:bodyPr anchor="b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14506715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523999" y="3685560"/>
            <a:ext cx="9142413" cy="120080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grpSp>
        <p:nvGrpSpPr>
          <p:cNvPr id="938739149" name="CommCnrShld" hidden="1"/>
          <p:cNvGrpSpPr/>
          <p:nvPr userDrawn="1"/>
        </p:nvGrpSpPr>
        <p:grpSpPr bwMode="auto">
          <a:xfrm>
            <a:off x="9550401" y="3688081"/>
            <a:ext cx="2641599" cy="3169919"/>
            <a:chOff x="9550401" y="3688081"/>
            <a:chExt cx="2641599" cy="3169919"/>
          </a:xfrm>
        </p:grpSpPr>
        <p:sp>
          <p:nvSpPr>
            <p:cNvPr id="8" name="Corner Shield Shape Right"/>
            <p:cNvSpPr/>
            <p:nvPr/>
          </p:nvSpPr>
          <p:spPr bwMode="auto">
            <a:xfrm>
              <a:off x="9799087" y="3700789"/>
              <a:ext cx="2392913" cy="3157211"/>
            </a:xfrm>
            <a:custGeom>
              <a:avLst/>
              <a:gdLst>
                <a:gd name="connsiteX0" fmla="*/ 0 w 1637473"/>
                <a:gd name="connsiteY0" fmla="*/ 2160483 h 2160483"/>
                <a:gd name="connsiteX1" fmla="*/ 1637474 w 1637473"/>
                <a:gd name="connsiteY1" fmla="*/ 2160483 h 2160483"/>
                <a:gd name="connsiteX2" fmla="*/ 1637474 w 1637473"/>
                <a:gd name="connsiteY2" fmla="*/ 0 h 2160483"/>
                <a:gd name="connsiteX3" fmla="*/ 0 w 1637473"/>
                <a:gd name="connsiteY3" fmla="*/ 2160483 h 2160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37473" h="2160483" fill="norm" stroke="1" extrusionOk="0">
                  <a:moveTo>
                    <a:pt x="0" y="2160483"/>
                  </a:moveTo>
                  <a:lnTo>
                    <a:pt x="1637474" y="2160483"/>
                  </a:lnTo>
                  <a:lnTo>
                    <a:pt x="1637474" y="0"/>
                  </a:lnTo>
                  <a:cubicBezTo>
                    <a:pt x="1637474" y="1113830"/>
                    <a:pt x="688808" y="1755720"/>
                    <a:pt x="0" y="2160483"/>
                  </a:cubicBezTo>
                  <a:close/>
                </a:path>
              </a:pathLst>
            </a:custGeom>
            <a:solidFill>
              <a:srgbClr val="1E407C"/>
            </a:solidFill>
            <a:ln w="121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pic>
          <p:nvPicPr>
            <p:cNvPr id="9" name="Comm Shield Corner"/>
            <p:cNvPicPr>
              <a:picLocks noChangeAspect="1"/>
            </p:cNvPicPr>
            <p:nvPr userDrawn="1"/>
          </p:nvPicPr>
          <p:blipFill rotWithShape="1">
            <a:blip r:embed="rId2"/>
            <a:stretch/>
          </p:blipFill>
          <p:spPr bwMode="auto">
            <a:xfrm>
              <a:off x="9550401" y="3688081"/>
              <a:ext cx="2641599" cy="3169919"/>
            </a:xfrm>
            <a:prstGeom prst="rect">
              <a:avLst/>
            </a:prstGeom>
          </p:spPr>
        </p:pic>
      </p:grpSp>
      <p:grpSp>
        <p:nvGrpSpPr>
          <p:cNvPr id="371103334" name="CommCnrShld Graphic" hidden="1"/>
          <p:cNvGrpSpPr/>
          <p:nvPr userDrawn="1"/>
        </p:nvGrpSpPr>
        <p:grpSpPr bwMode="auto">
          <a:xfrm>
            <a:off x="8153399" y="2011680"/>
            <a:ext cx="4038601" cy="4846321"/>
            <a:chOff x="9550401" y="3688081"/>
            <a:chExt cx="2641599" cy="3169919"/>
          </a:xfrm>
        </p:grpSpPr>
        <p:sp>
          <p:nvSpPr>
            <p:cNvPr id="11" name="Corner Shield Shape Right"/>
            <p:cNvSpPr/>
            <p:nvPr/>
          </p:nvSpPr>
          <p:spPr bwMode="auto">
            <a:xfrm>
              <a:off x="9799087" y="3700789"/>
              <a:ext cx="2392913" cy="3157211"/>
            </a:xfrm>
            <a:custGeom>
              <a:avLst/>
              <a:gdLst>
                <a:gd name="connsiteX0" fmla="*/ 0 w 1637473"/>
                <a:gd name="connsiteY0" fmla="*/ 2160483 h 2160483"/>
                <a:gd name="connsiteX1" fmla="*/ 1637474 w 1637473"/>
                <a:gd name="connsiteY1" fmla="*/ 2160483 h 2160483"/>
                <a:gd name="connsiteX2" fmla="*/ 1637474 w 1637473"/>
                <a:gd name="connsiteY2" fmla="*/ 0 h 2160483"/>
                <a:gd name="connsiteX3" fmla="*/ 0 w 1637473"/>
                <a:gd name="connsiteY3" fmla="*/ 2160483 h 2160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37473" h="2160483" fill="norm" stroke="1" extrusionOk="0">
                  <a:moveTo>
                    <a:pt x="0" y="2160483"/>
                  </a:moveTo>
                  <a:lnTo>
                    <a:pt x="1637474" y="2160483"/>
                  </a:lnTo>
                  <a:lnTo>
                    <a:pt x="1637474" y="0"/>
                  </a:lnTo>
                  <a:cubicBezTo>
                    <a:pt x="1637474" y="1113830"/>
                    <a:pt x="688808" y="1755720"/>
                    <a:pt x="0" y="2160483"/>
                  </a:cubicBezTo>
                  <a:close/>
                </a:path>
              </a:pathLst>
            </a:custGeom>
            <a:solidFill>
              <a:srgbClr val="1E407C"/>
            </a:solidFill>
            <a:ln w="121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pic>
          <p:nvPicPr>
            <p:cNvPr id="12" name="Comm Shield Corner"/>
            <p:cNvPicPr>
              <a:picLocks noChangeAspect="1"/>
            </p:cNvPicPr>
            <p:nvPr userDrawn="1"/>
          </p:nvPicPr>
          <p:blipFill rotWithShape="1">
            <a:blip r:embed="rId2"/>
            <a:stretch/>
          </p:blipFill>
          <p:spPr bwMode="auto">
            <a:xfrm>
              <a:off x="9550401" y="3688081"/>
              <a:ext cx="2641599" cy="3169919"/>
            </a:xfrm>
            <a:prstGeom prst="rect">
              <a:avLst/>
            </a:prstGeom>
          </p:spPr>
        </p:pic>
      </p:grpSp>
      <p:sp>
        <p:nvSpPr>
          <p:cNvPr id="340568094" name="Date Placeholder 1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E944EA1-8BCD-964C-87E6-31892231A579}" type="datetime1">
              <a:rPr lang="en-US"/>
              <a:t>8/13/25</a:t>
            </a:fld>
            <a:endParaRPr lang="en-US"/>
          </a:p>
        </p:txBody>
      </p:sp>
      <p:sp>
        <p:nvSpPr>
          <p:cNvPr id="677892605" name="Footer Placeholder 1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79906693" name="Slide Number Placeholder 1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E1D1B55-F3E9-1242-8F18-D40061936871}" type="slidenum">
              <a:rPr lang="en-US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3736151" name="Title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add slide title, key point, or assertion</a:t>
            </a:r>
            <a:endParaRPr/>
          </a:p>
        </p:txBody>
      </p:sp>
      <p:sp>
        <p:nvSpPr>
          <p:cNvPr id="364481838" name="Content Placeholder 2"/>
          <p:cNvSpPr>
            <a:spLocks noGrp="1"/>
          </p:cNvSpPr>
          <p:nvPr>
            <p:ph idx="1" hasCustomPrompt="1"/>
          </p:nvPr>
        </p:nvSpPr>
        <p:spPr bwMode="auto">
          <a:xfrm>
            <a:off x="1066800" y="1825625"/>
            <a:ext cx="10056813" cy="3736975"/>
          </a:xfrm>
        </p:spPr>
        <p:txBody>
          <a:bodyPr/>
          <a:lstStyle>
            <a:lvl2pPr marL="777240" indent="-182880">
              <a:defRPr/>
            </a:lvl2pPr>
          </a:lstStyle>
          <a:p>
            <a:pPr marL="201168" marR="0" lvl="0" indent="-201168" algn="l" defTabSz="914400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tx2"/>
              </a:buClr>
              <a:buSzTx/>
              <a:buFont typeface="Wingdings"/>
              <a:buChar char="§"/>
              <a:defRPr/>
            </a:pPr>
            <a:r>
              <a:rPr lang="en-US"/>
              <a:t>Click to add text or choose an icon below to insert other content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57102934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3C5B02E-A76A-D543-896B-0002B4A60318}" type="datetime1">
              <a:rPr lang="en-US"/>
              <a:t>8/13/25</a:t>
            </a:fld>
            <a:endParaRPr lang="en-US"/>
          </a:p>
        </p:txBody>
      </p:sp>
      <p:sp>
        <p:nvSpPr>
          <p:cNvPr id="76546939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4905601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E1D1B55-F3E9-1242-8F18-D4006193687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9250739" name="Title 1"/>
          <p:cNvSpPr>
            <a:spLocks noGrp="1"/>
          </p:cNvSpPr>
          <p:nvPr>
            <p:ph type="title"/>
          </p:nvPr>
        </p:nvSpPr>
        <p:spPr bwMode="auto">
          <a:xfrm>
            <a:off x="609600" y="457200"/>
            <a:ext cx="4114800" cy="26797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15670647" name="Content Placeholder 2"/>
          <p:cNvSpPr>
            <a:spLocks noGrp="1"/>
          </p:cNvSpPr>
          <p:nvPr>
            <p:ph idx="1" hasCustomPrompt="1"/>
          </p:nvPr>
        </p:nvSpPr>
        <p:spPr bwMode="auto">
          <a:xfrm>
            <a:off x="5183188" y="676275"/>
            <a:ext cx="6399212" cy="4586288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add text or choose an icon below to insert other content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6634802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0" y="3429000"/>
            <a:ext cx="4114800" cy="2286000"/>
          </a:xfr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2473018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278D83B-FBE8-6341-9B65-B8DF7340B97B}" type="datetime1">
              <a:rPr lang="en-US"/>
              <a:t>8/13/25</a:t>
            </a:fld>
            <a:endParaRPr lang="en-US"/>
          </a:p>
        </p:txBody>
      </p:sp>
      <p:sp>
        <p:nvSpPr>
          <p:cNvPr id="194737116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3875709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E1D1B55-F3E9-1242-8F18-D4006193687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bg>
      <p:bgPr shadeToTitle="0">
        <a:gradFill>
          <a:gsLst>
            <a:gs pos="0">
              <a:schemeClr val="accent1"/>
            </a:gs>
            <a:gs pos="36000">
              <a:srgbClr val="18518E"/>
            </a:gs>
            <a:gs pos="54000">
              <a:srgbClr val="1E407C"/>
            </a:gs>
            <a:gs pos="100000">
              <a:srgbClr val="001D44"/>
            </a:gs>
          </a:gsLst>
          <a:lin ang="60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629418" name="Title 1"/>
          <p:cNvSpPr>
            <a:spLocks noGrp="1"/>
          </p:cNvSpPr>
          <p:nvPr>
            <p:ph type="title"/>
          </p:nvPr>
        </p:nvSpPr>
        <p:spPr bwMode="auto">
          <a:xfrm>
            <a:off x="6551613" y="762000"/>
            <a:ext cx="4725986" cy="21336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24499555" name="Picture Placeholder 2"/>
          <p:cNvSpPr>
            <a:spLocks noGrp="1"/>
          </p:cNvSpPr>
          <p:nvPr>
            <p:ph type="pic" idx="1" hasCustomPrompt="1"/>
          </p:nvPr>
        </p:nvSpPr>
        <p:spPr bwMode="auto">
          <a:xfrm>
            <a:off x="609601" y="990600"/>
            <a:ext cx="5486400" cy="4298899"/>
          </a:xfrm>
          <a:prstGeom prst="rect">
            <a:avLst/>
          </a:prstGeom>
          <a:noFill/>
          <a:effectLst/>
        </p:spPr>
        <p:txBody>
          <a:bodyPr tIns="365760"/>
          <a:lstStyle>
            <a:lvl1pPr marL="0" marR="0" indent="0" algn="ctr" defTabSz="914400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tx2"/>
              </a:buClr>
              <a:buSzTx/>
              <a:buFont typeface="Wingdings"/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below to add picture. </a:t>
            </a:r>
            <a:br>
              <a:rPr lang="en-US"/>
            </a:br>
            <a:r>
              <a:rPr lang="en-US"/>
              <a:t>To crop the picture, click Crop on the Picture Tools tab</a:t>
            </a:r>
            <a:endParaRPr/>
          </a:p>
        </p:txBody>
      </p:sp>
      <p:sp>
        <p:nvSpPr>
          <p:cNvPr id="109744574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551613" y="3048000"/>
            <a:ext cx="4572000" cy="2241499"/>
          </a:xfrm>
        </p:spPr>
        <p:txBody>
          <a:bodyPr anchor="b" anchorCtr="0">
            <a:normAutofit/>
          </a:bodyPr>
          <a:lstStyle>
            <a:lvl1pPr marL="0" indent="0">
              <a:buClr>
                <a:schemeClr val="accent1"/>
              </a:buClr>
              <a:buSzPct val="120000"/>
              <a:buFont typeface="System Font Regular"/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6849934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CE22E21-6626-7F48-BD7E-E9F69B4CC986}" type="datetime1">
              <a:rPr lang="en-US"/>
              <a:t>8/13/25</a:t>
            </a:fld>
            <a:endParaRPr lang="en-US"/>
          </a:p>
        </p:txBody>
      </p:sp>
      <p:sp>
        <p:nvSpPr>
          <p:cNvPr id="62364161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226357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E1D1B55-F3E9-1242-8F18-D40061936871}" type="slidenum">
              <a:rPr lang="en-US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740355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71247075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06CF7B2-6D0C-1749-99C8-CF428F75A01C}" type="datetime1">
              <a:rPr lang="en-US"/>
              <a:t>8/13/25</a:t>
            </a:fld>
            <a:endParaRPr lang="en-US"/>
          </a:p>
        </p:txBody>
      </p:sp>
      <p:sp>
        <p:nvSpPr>
          <p:cNvPr id="143213083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7021636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E1D1B55-F3E9-1242-8F18-D4006193687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732155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9695552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600" y="1825625"/>
            <a:ext cx="5029200" cy="3432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88949458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11766" y="1825625"/>
            <a:ext cx="5029201" cy="3432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02634295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E202C91-2BFC-A04F-9296-2B99B3ED0817}" type="datetime1">
              <a:rPr lang="en-US"/>
              <a:t>8/13/25</a:t>
            </a:fld>
            <a:endParaRPr lang="en-US"/>
          </a:p>
        </p:txBody>
      </p:sp>
      <p:sp>
        <p:nvSpPr>
          <p:cNvPr id="165511191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8750933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E1D1B55-F3E9-1242-8F18-D4006193687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4503517" name="Title 1"/>
          <p:cNvSpPr>
            <a:spLocks noGrp="1"/>
          </p:cNvSpPr>
          <p:nvPr>
            <p:ph type="title"/>
          </p:nvPr>
        </p:nvSpPr>
        <p:spPr bwMode="auto">
          <a:xfrm>
            <a:off x="609600" y="365125"/>
            <a:ext cx="10745788" cy="1006474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81189784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18331" y="1421607"/>
            <a:ext cx="5026025" cy="823912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39282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8331" y="2245519"/>
            <a:ext cx="5026025" cy="3133725"/>
          </a:xfrm>
        </p:spPr>
        <p:txBody>
          <a:bodyPr/>
          <a:lstStyle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771855461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547644" y="1421607"/>
            <a:ext cx="5033167" cy="823912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9456396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547644" y="2245519"/>
            <a:ext cx="5033168" cy="3133725"/>
          </a:xfrm>
        </p:spPr>
        <p:txBody>
          <a:bodyPr/>
          <a:lstStyle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91094243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E8D1133-C6F7-A54C-B4F9-F574FC8B44CF}" type="datetime1">
              <a:rPr lang="en-US"/>
              <a:t>8/13/25</a:t>
            </a:fld>
            <a:endParaRPr lang="en-US"/>
          </a:p>
        </p:txBody>
      </p:sp>
      <p:sp>
        <p:nvSpPr>
          <p:cNvPr id="212796085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8629164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E1D1B55-F3E9-1242-8F18-D4006193687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025084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BE07659-B258-5942-BADA-20CC774035A0}" type="datetime1">
              <a:rPr lang="en-US"/>
              <a:t>8/13/25</a:t>
            </a:fld>
            <a:endParaRPr lang="en-US"/>
          </a:p>
        </p:txBody>
      </p:sp>
      <p:sp>
        <p:nvSpPr>
          <p:cNvPr id="65231414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8071139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E1D1B55-F3E9-1242-8F18-D4006193687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8256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89602756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39703370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8EF8AD4-0A8D-1942-AD91-7D3C5A1D73BF}" type="datetime1">
              <a:rPr lang="en-US"/>
              <a:t>8/13/25</a:t>
            </a:fld>
            <a:endParaRPr lang="en-US"/>
          </a:p>
        </p:txBody>
      </p:sp>
      <p:sp>
        <p:nvSpPr>
          <p:cNvPr id="96795786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260987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E1D1B55-F3E9-1242-8F18-D4006193687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116346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82429206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4358402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521F17A-2A7E-764E-8194-BD617B10743D}" type="datetime1">
              <a:rPr lang="en-US"/>
              <a:t>8/13/25</a:t>
            </a:fld>
            <a:endParaRPr lang="en-US"/>
          </a:p>
        </p:txBody>
      </p:sp>
      <p:sp>
        <p:nvSpPr>
          <p:cNvPr id="176000074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4137924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E1D1B55-F3E9-1242-8F18-D4006193687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Relationship Id="rId15" Type="http://schemas.openxmlformats.org/officeDocument/2006/relationships/image" Target="../media/image3.png"/><Relationship Id="rId16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65250059" name="CommShld footer images"/>
          <p:cNvGrpSpPr>
            <a:grpSpLocks noGrp="1" noMove="1" noResize="1" noRot="1" noUngrp="1"/>
          </p:cNvGrpSpPr>
          <p:nvPr userDrawn="1"/>
        </p:nvGrpSpPr>
        <p:grpSpPr bwMode="auto">
          <a:xfrm>
            <a:off x="0" y="5943600"/>
            <a:ext cx="12192000" cy="914400"/>
            <a:chOff x="0" y="5943600"/>
            <a:chExt cx="12192000" cy="914400"/>
          </a:xfrm>
        </p:grpSpPr>
        <p:sp>
          <p:nvSpPr>
            <p:cNvPr id="11" name="footer background shape"/>
            <p:cNvSpPr>
              <a:spLocks noAdjustHandles="1" noChangeArrowheads="1" noChangeShapeType="1" noEditPoints="1" noGrp="1" noMove="1" noResize="1" noRot="1"/>
            </p:cNvSpPr>
            <p:nvPr userDrawn="1"/>
          </p:nvSpPr>
          <p:spPr bwMode="auto">
            <a:xfrm>
              <a:off x="0" y="5943600"/>
              <a:ext cx="12192000" cy="914400"/>
            </a:xfrm>
            <a:prstGeom prst="rect">
              <a:avLst/>
            </a:prstGeom>
            <a:gradFill>
              <a:gsLst>
                <a:gs pos="0">
                  <a:srgbClr val="009CDE"/>
                </a:gs>
                <a:gs pos="7000">
                  <a:srgbClr val="0D74B3"/>
                </a:gs>
                <a:gs pos="39000">
                  <a:srgbClr val="1E407C"/>
                </a:gs>
                <a:gs pos="99000">
                  <a:srgbClr val="1E407C"/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endParaRPr lang="en-US"/>
            </a:p>
          </p:txBody>
        </p:sp>
        <p:cxnSp>
          <p:nvCxnSpPr>
            <p:cNvPr id="12" name="footer line"/>
            <p:cNvCxnSpPr>
              <a:cxnSpLocks noAdjustHandles="1" noChangeArrowheads="1" noChangeShapeType="1" noEditPoints="1" noGrp="1" noMove="1" noResize="1" noRot="1"/>
            </p:cNvCxnSpPr>
            <p:nvPr userDrawn="1"/>
          </p:nvCxnSpPr>
          <p:spPr bwMode="auto">
            <a:xfrm>
              <a:off x="1524" y="5943600"/>
              <a:ext cx="12188952" cy="0"/>
            </a:xfrm>
            <a:prstGeom prst="line">
              <a:avLst/>
            </a:prstGeom>
            <a:gradFill>
              <a:gsLst>
                <a:gs pos="0">
                  <a:schemeClr val="accent1"/>
                </a:gs>
                <a:gs pos="7000">
                  <a:srgbClr val="0D74B3"/>
                </a:gs>
                <a:gs pos="39000">
                  <a:srgbClr val="1E407C"/>
                </a:gs>
                <a:gs pos="99000">
                  <a:srgbClr val="1E407C"/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63508817" name="ShldOverlay Elements"/>
          <p:cNvGrpSpPr>
            <a:grpSpLocks noGrp="1" noMove="1" noResize="1" noRot="1" noUngrp="1"/>
          </p:cNvGrpSpPr>
          <p:nvPr userDrawn="1"/>
        </p:nvGrpSpPr>
        <p:grpSpPr bwMode="auto">
          <a:xfrm>
            <a:off x="0" y="0"/>
            <a:ext cx="12199620" cy="6874596"/>
            <a:chOff x="0" y="0"/>
            <a:chExt cx="12199620" cy="6874596"/>
          </a:xfrm>
        </p:grpSpPr>
        <p:pic>
          <p:nvPicPr>
            <p:cNvPr id="9" name="Shield Overlay Transparent Background"/>
            <p:cNvPicPr>
              <a:picLocks noAdjustHandles="1" noChangeAspect="1" noChangeArrowheads="1" noChangeShapeType="1" noEditPoints="1" noGrp="1" noMove="1" noResize="1" noRot="1" noCrop="1"/>
            </p:cNvPicPr>
            <p:nvPr userDrawn="1"/>
          </p:nvPicPr>
          <p:blipFill rotWithShape="1">
            <a:blip r:embed="rId13"/>
            <a:stretch/>
          </p:blipFill>
          <p:spPr bwMode="auto">
            <a:xfrm>
              <a:off x="7621" y="16597"/>
              <a:ext cx="12191999" cy="6857999"/>
            </a:xfrm>
            <a:prstGeom prst="rect">
              <a:avLst/>
            </a:prstGeom>
            <a:noFill/>
          </p:spPr>
        </p:pic>
        <p:pic>
          <p:nvPicPr>
            <p:cNvPr id="14" name="Shield Overlay Transparent Background"/>
            <p:cNvPicPr>
              <a:picLocks noAdjustHandles="1" noChangeAspect="1" noChangeArrowheads="1" noChangeShapeType="1" noEditPoints="1" noGrp="1" noMove="1" noResize="1" noRot="1" noCrop="1"/>
            </p:cNvPicPr>
            <p:nvPr userDrawn="1"/>
          </p:nvPicPr>
          <p:blipFill rotWithShape="1">
            <a:blip r:embed="rId13"/>
            <a:stretch/>
          </p:blipFill>
          <p:spPr bwMode="auto">
            <a:xfrm>
              <a:off x="0" y="0"/>
              <a:ext cx="12191999" cy="6857999"/>
            </a:xfrm>
            <a:prstGeom prst="rect">
              <a:avLst/>
            </a:prstGeom>
            <a:noFill/>
          </p:spPr>
        </p:pic>
        <p:pic>
          <p:nvPicPr>
            <p:cNvPr id="13" name="Community Shield Image"/>
            <p:cNvPicPr>
              <a:picLocks noAdjustHandles="1" noChangeArrowheads="1" noChangeShapeType="1" noEditPoints="1" noGrp="1" noMove="1" noResize="1" noRot="1" noCrop="1"/>
            </p:cNvPicPr>
            <p:nvPr userDrawn="1"/>
          </p:nvPicPr>
          <p:blipFill rotWithShape="1">
            <a:blip r:embed="rId14">
              <a:alphaModFix amt="80000"/>
            </a:blip>
            <a:srcRect l="2549" t="9198" r="8920" b="-328"/>
            <a:stretch/>
          </p:blipFill>
          <p:spPr bwMode="auto">
            <a:xfrm>
              <a:off x="8311896" y="2276856"/>
              <a:ext cx="3887724" cy="4597740"/>
            </a:xfrm>
            <a:prstGeom prst="rect">
              <a:avLst/>
            </a:prstGeom>
          </p:spPr>
        </p:pic>
      </p:grpSp>
      <p:sp>
        <p:nvSpPr>
          <p:cNvPr id="1308197813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457200"/>
            <a:ext cx="10972800" cy="9144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66271914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593851"/>
            <a:ext cx="10972800" cy="419734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0493210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0413" y="5943600"/>
            <a:ext cx="3089211" cy="914400"/>
          </a:xfrm>
          <a:prstGeom prst="rect">
            <a:avLst/>
          </a:prstGeom>
        </p:spPr>
        <p:txBody>
          <a:bodyPr vert="horz" lIns="91440" tIns="283464" rIns="1005840" bIns="91440" rtlCol="0" anchor="t" anchorCtr="0"/>
          <a:lstStyle>
            <a:lvl1pPr algn="l">
              <a:defRPr sz="1400" b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9E944EA1-8BCD-964C-87E6-31892231A579}" type="datetime1">
              <a:rPr lang="en-US"/>
              <a:t>8/13/25</a:t>
            </a:fld>
            <a:endParaRPr lang="en-US"/>
          </a:p>
        </p:txBody>
      </p:sp>
      <p:sp>
        <p:nvSpPr>
          <p:cNvPr id="104710421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354388" y="5943600"/>
            <a:ext cx="5026025" cy="914400"/>
          </a:xfrm>
          <a:prstGeom prst="rect">
            <a:avLst/>
          </a:prstGeom>
        </p:spPr>
        <p:txBody>
          <a:bodyPr vert="horz" lIns="548640" tIns="283464" rIns="182880" bIns="91440" rtlCol="0" anchor="t" anchorCtr="0"/>
          <a:lstStyle>
            <a:lvl1pPr algn="l">
              <a:defRPr sz="1400" b="0" i="0">
                <a:solidFill>
                  <a:srgbClr val="FFFFFF"/>
                </a:solidFill>
                <a:latin typeface="+mn-lt"/>
                <a:cs typeface="Arial Narrow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6305496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1469624" y="5943600"/>
            <a:ext cx="722376" cy="914400"/>
          </a:xfrm>
          <a:prstGeom prst="rect">
            <a:avLst/>
          </a:prstGeom>
        </p:spPr>
        <p:txBody>
          <a:bodyPr vert="horz" lIns="91440" tIns="265176" rIns="91440" bIns="91440" rtlCol="0" anchor="t" anchorCtr="0"/>
          <a:lstStyle>
            <a:lvl1pPr algn="ctr">
              <a:defRPr sz="1600" b="1" i="0">
                <a:solidFill>
                  <a:srgbClr val="F0F0F0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fld id="{3E1D1B55-F3E9-1242-8F18-D40061936871}" type="slidenum">
              <a:rPr lang="en-US"/>
              <a:t>‹#›</a:t>
            </a:fld>
            <a:endParaRPr lang="en-US"/>
          </a:p>
        </p:txBody>
      </p:sp>
      <p:pic>
        <p:nvPicPr>
          <p:cNvPr id="15576274" name="Penn State Mark on Light BG" hidden="1"/>
          <p:cNvPicPr>
            <a:picLocks noChangeAspect="1"/>
          </p:cNvPicPr>
          <p:nvPr userDrawn="1"/>
        </p:nvPicPr>
        <p:blipFill rotWithShape="1">
          <a:blip r:embed="rId15"/>
          <a:stretch/>
        </p:blipFill>
        <p:spPr bwMode="auto">
          <a:xfrm>
            <a:off x="493044" y="6013529"/>
            <a:ext cx="1709112" cy="782048"/>
          </a:xfrm>
          <a:prstGeom prst="rect">
            <a:avLst/>
          </a:prstGeom>
        </p:spPr>
      </p:pic>
      <p:pic>
        <p:nvPicPr>
          <p:cNvPr id="8009924" name="Penn State Mark on Dark BG" descr="Penn State University mark"/>
          <p:cNvPicPr>
            <a:picLocks noChangeAspect="1"/>
          </p:cNvPicPr>
          <p:nvPr userDrawn="1"/>
        </p:nvPicPr>
        <p:blipFill rotWithShape="1">
          <a:blip r:embed="rId16"/>
          <a:stretch/>
        </p:blipFill>
        <p:spPr bwMode="auto">
          <a:xfrm>
            <a:off x="487111" y="5996734"/>
            <a:ext cx="1728216" cy="79884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1"/>
  <p:txStyles>
    <p:titleStyle>
      <a:lvl1pPr algn="l" defTabSz="914400" rtl="0">
        <a:lnSpc>
          <a:spcPct val="80000"/>
        </a:lnSpc>
        <a:spcBef>
          <a:spcPts val="0"/>
        </a:spcBef>
        <a:buNone/>
        <a:defRPr sz="3200" b="1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01168" indent="-201168" algn="l" defTabSz="914400" rtl="0">
        <a:lnSpc>
          <a:spcPct val="90000"/>
        </a:lnSpc>
        <a:spcBef>
          <a:spcPts val="2000"/>
        </a:spcBef>
        <a:buClr>
          <a:schemeClr val="tx2"/>
        </a:buClr>
        <a:buFont typeface="Wingdings"/>
        <a:buChar char="§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594360" indent="-182880" algn="l" defTabSz="914400" rtl="0">
        <a:lnSpc>
          <a:spcPct val="90000"/>
        </a:lnSpc>
        <a:spcBef>
          <a:spcPts val="800"/>
        </a:spcBef>
        <a:buClr>
          <a:schemeClr val="tx2"/>
        </a:buClr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051560" indent="-137160" algn="l" defTabSz="914400" rtl="0">
        <a:lnSpc>
          <a:spcPct val="90000"/>
        </a:lnSpc>
        <a:spcBef>
          <a:spcPts val="1100"/>
        </a:spcBef>
        <a:buClr>
          <a:schemeClr val="tx2"/>
        </a:buClr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417320" indent="-137160" algn="l" defTabSz="914400" rtl="0">
        <a:lnSpc>
          <a:spcPct val="90000"/>
        </a:lnSpc>
        <a:spcBef>
          <a:spcPts val="800"/>
        </a:spcBef>
        <a:buClr>
          <a:schemeClr val="tx2"/>
        </a:buClr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4pPr>
      <a:lvl5pPr marL="1965960" indent="-137160" algn="l" defTabSz="914400" rtl="0">
        <a:lnSpc>
          <a:spcPct val="90000"/>
        </a:lnSpc>
        <a:spcBef>
          <a:spcPts val="800"/>
        </a:spcBef>
        <a:buClr>
          <a:schemeClr val="tx2"/>
        </a:buClr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jp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github.com/winstonwumbo/cse-597-nixWRehosT" TargetMode="External"/><Relationship Id="rId4" Type="http://schemas.openxmlformats.org/officeDocument/2006/relationships/image" Target="../media/image21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github.com/tuhhosg/reupnix" TargetMode="External"/><Relationship Id="rId4" Type="http://schemas.openxmlformats.org/officeDocument/2006/relationships/hyperlink" Target="https://uu.diva-portal.org/smash/get/diva2:2002562/FULLTEXT01.pdf" TargetMode="External"/><Relationship Id="rId5" Type="http://schemas.openxmlformats.org/officeDocument/2006/relationships/hyperlink" Target="https://www.utupub.fi/bitstream/handle/10024/180653/Korte_Eino_Thesis.pdf" TargetMode="External"/><Relationship Id="rId6" Type="http://schemas.openxmlformats.org/officeDocument/2006/relationships/hyperlink" Target="https://github.com/anduril/jetpack-nixos" TargetMode="External"/><Relationship Id="rId7" Type="http://schemas.openxmlformats.org/officeDocument/2006/relationships/hyperlink" Target="https://github.com/vkleen/nixwrt" TargetMode="Externa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www.usenix.org/conference/usenixsecurity23/presentation/tay" TargetMode="External"/><Relationship Id="rId4" Type="http://schemas.openxmlformats.org/officeDocument/2006/relationships/hyperlink" Target="https://www.ndss-symposium.org/ndss-paper/auto-draft-634/" TargetMode="External"/><Relationship Id="rId5" Type="http://schemas.openxmlformats.org/officeDocument/2006/relationships/hyperlink" Target="https://www.usenix.org/conference/usenixsecurity24/presentation/angelakopoulo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5405803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1066798" y="1083347"/>
            <a:ext cx="10944396" cy="2519362"/>
          </a:xfrm>
        </p:spPr>
        <p:txBody>
          <a:bodyPr anchor="b">
            <a:noAutofit/>
          </a:bodyPr>
          <a:lstStyle/>
          <a:p>
            <a:pPr>
              <a:defRPr/>
            </a:pPr>
            <a:r>
              <a:rPr lang="en-US" sz="7200"/>
              <a:t>nixWRehosT: Rehosting NixOS Firmware</a:t>
            </a:r>
            <a:endParaRPr lang="en-US" sz="8000"/>
          </a:p>
        </p:txBody>
      </p:sp>
      <p:sp>
        <p:nvSpPr>
          <p:cNvPr id="395607133" name="Subtitle 2"/>
          <p:cNvSpPr>
            <a:spLocks noGrp="1"/>
          </p:cNvSpPr>
          <p:nvPr>
            <p:ph type="subTitle" idx="1"/>
          </p:nvPr>
        </p:nvSpPr>
        <p:spPr bwMode="auto">
          <a:xfrm>
            <a:off x="1066799" y="3833266"/>
            <a:ext cx="10056813" cy="127476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/>
              <a:t>Winston White</a:t>
            </a:r>
            <a:endParaRPr lang="en-US"/>
          </a:p>
          <a:p>
            <a:pPr>
              <a:defRPr/>
            </a:pPr>
            <a:r>
              <a:rPr lang="en-US"/>
              <a:t>Penn State College of Information Sciences and Technology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8781719" name="Title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Recap on NixOS</a:t>
            </a:r>
            <a:endParaRPr/>
          </a:p>
        </p:txBody>
      </p:sp>
      <p:sp>
        <p:nvSpPr>
          <p:cNvPr id="117675127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1458A44-4392-8A95-CE0A-440116DFC194}" type="slidenum">
              <a:rPr lang="en-US"/>
              <a:t/>
            </a:fld>
            <a:endParaRPr lang="en-US"/>
          </a:p>
        </p:txBody>
      </p:sp>
      <p:pic>
        <p:nvPicPr>
          <p:cNvPr id="89713598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062177" y="1381123"/>
            <a:ext cx="6060723" cy="4118795"/>
          </a:xfrm>
          <a:prstGeom prst="rect">
            <a:avLst/>
          </a:prstGeom>
        </p:spPr>
      </p:pic>
      <p:sp>
        <p:nvSpPr>
          <p:cNvPr id="402823382" name="Content Placeholder 2"/>
          <p:cNvSpPr>
            <a:spLocks noGrp="1"/>
          </p:cNvSpPr>
          <p:nvPr>
            <p:ph idx="1" hasCustomPrompt="1"/>
          </p:nvPr>
        </p:nvSpPr>
        <p:spPr bwMode="auto">
          <a:xfrm flipH="0" flipV="0">
            <a:off x="1066797" y="1825622"/>
            <a:ext cx="4995379" cy="373697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0000" lnSpcReduction="6000"/>
          </a:bodyPr>
          <a:lstStyle>
            <a:lvl2pPr marL="777240" indent="-182880">
              <a:defRPr/>
            </a:lvl2pPr>
          </a:lstStyle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Franklin Gothic Book"/>
                <a:ea typeface="Franklin Gothic Book"/>
                <a:cs typeface="Franklin Gothic Book"/>
              </a:rPr>
              <a:t>NixOS is a newer open-source operating system based around </a:t>
            </a:r>
            <a:r>
              <a:rPr lang="en-US" sz="2800" b="1" i="0" u="none" strike="noStrike" cap="none" spc="0">
                <a:solidFill>
                  <a:schemeClr val="tx1"/>
                </a:solidFill>
                <a:latin typeface="Franklin Gothic Book"/>
                <a:ea typeface="Franklin Gothic Book"/>
                <a:cs typeface="Franklin Gothic Book"/>
              </a:rPr>
              <a:t>reproducibility</a:t>
            </a:r>
            <a:endParaRPr/>
          </a:p>
          <a:p>
            <a:pPr lvl="1">
              <a:defRPr/>
            </a:pPr>
            <a:r>
              <a:rPr/>
              <a:t>No imperative commands</a:t>
            </a:r>
            <a:endParaRPr/>
          </a:p>
          <a:p>
            <a:pPr lvl="2">
              <a:defRPr/>
            </a:pPr>
            <a:r>
              <a:rPr i="1" strike="sngStrike"/>
              <a:t>sudo apt install</a:t>
            </a:r>
            <a:endParaRPr i="0"/>
          </a:p>
          <a:p>
            <a:pPr lvl="0">
              <a:defRPr/>
            </a:pPr>
            <a:r>
              <a:rPr/>
              <a:t>Uses Linux kernel, but </a:t>
            </a:r>
            <a:r>
              <a:rPr/>
              <a:t>breaks many userspace expectations</a:t>
            </a:r>
            <a:endParaRPr/>
          </a:p>
          <a:p>
            <a:pPr lvl="1">
              <a:defRPr/>
            </a:pPr>
            <a:r>
              <a:rPr/>
              <a:t>Not compliant with Filesystem</a:t>
            </a:r>
            <a:r>
              <a:rPr/>
              <a:t> Hierarchy Standard (FHS)</a:t>
            </a:r>
            <a:endParaRPr/>
          </a:p>
          <a:p>
            <a:pPr lvl="1">
              <a:defRPr/>
            </a:pPr>
            <a:r>
              <a:rPr/>
              <a:t>Extremely symlink-based</a:t>
            </a:r>
            <a:endParaRPr/>
          </a:p>
          <a:p>
            <a:pPr lvl="1">
              <a:defRPr/>
            </a:pPr>
            <a:r>
              <a:rPr/>
              <a:t>All packages and configurations installed to /nix/store/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81988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F706C34-1E30-B748-E7EE-C9BC9CBAA3E7}" type="slidenum">
              <a:rPr lang="en-US"/>
              <a:t/>
            </a:fld>
            <a:endParaRPr lang="en-US"/>
          </a:p>
        </p:txBody>
      </p:sp>
      <p:pic>
        <p:nvPicPr>
          <p:cNvPr id="182592491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11200" y="39154"/>
            <a:ext cx="9299597" cy="58553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4852329" name="Title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Literature Review: Embedded NixOS</a:t>
            </a:r>
            <a:endParaRPr/>
          </a:p>
        </p:txBody>
      </p:sp>
      <p:sp>
        <p:nvSpPr>
          <p:cNvPr id="2083443269" name="Content Placeholder 2"/>
          <p:cNvSpPr>
            <a:spLocks noGrp="1"/>
          </p:cNvSpPr>
          <p:nvPr>
            <p:ph idx="1" hasCustomPrompt="1"/>
          </p:nvPr>
        </p:nvSpPr>
        <p:spPr bwMode="auto">
          <a:xfrm flipH="0" flipV="0">
            <a:off x="1066798" y="1825623"/>
            <a:ext cx="6063160" cy="373697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2pPr marL="777240" indent="-182880">
              <a:defRPr/>
            </a:lvl2pPr>
          </a:lstStyle>
          <a:p>
            <a:pPr>
              <a:defRPr/>
            </a:pPr>
            <a:r>
              <a:rPr/>
              <a:t>Not very popular in academia, I only found </a:t>
            </a:r>
            <a:r>
              <a:rPr b="1"/>
              <a:t>5 </a:t>
            </a:r>
            <a:r>
              <a:rPr b="0"/>
              <a:t>papers in total</a:t>
            </a:r>
            <a:endParaRPr b="0"/>
          </a:p>
          <a:p>
            <a:pPr lvl="2">
              <a:defRPr/>
            </a:pPr>
            <a:r>
              <a:rPr b="0"/>
              <a:t>Even </a:t>
            </a:r>
            <a:r>
              <a:rPr b="0" i="1"/>
              <a:t>Deep Research</a:t>
            </a:r>
            <a:r>
              <a:rPr b="0"/>
              <a:t> couldn’t find more</a:t>
            </a:r>
            <a:endParaRPr b="0"/>
          </a:p>
          <a:p>
            <a:pPr lvl="0">
              <a:defRPr/>
            </a:pPr>
            <a:r>
              <a:rPr b="0"/>
              <a:t>Most have closed-source code, not published with paper</a:t>
            </a:r>
            <a:endParaRPr b="0"/>
          </a:p>
          <a:p>
            <a:pPr>
              <a:defRPr/>
            </a:pPr>
            <a:endParaRPr/>
          </a:p>
        </p:txBody>
      </p:sp>
      <p:sp>
        <p:nvSpPr>
          <p:cNvPr id="111440161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B3A25DA-7E89-F4C4-A2B2-A97C6C8E7AAA}" type="slidenum">
              <a:rPr lang="en-US"/>
              <a:t/>
            </a:fld>
            <a:endParaRPr lang="en-US"/>
          </a:p>
        </p:txBody>
      </p:sp>
      <p:pic>
        <p:nvPicPr>
          <p:cNvPr id="37701699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360403" y="1371599"/>
            <a:ext cx="4547075" cy="43609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894409" name="Title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reUpNix</a:t>
            </a:r>
            <a:r>
              <a:rPr/>
              <a:t> — </a:t>
            </a:r>
            <a:r>
              <a:rPr lang="en-US" sz="3200" b="1" i="0" u="none" strike="noStrike" cap="none" spc="0">
                <a:solidFill>
                  <a:schemeClr val="tx2"/>
                </a:solidFill>
                <a:latin typeface="Franklin Gothic Medium"/>
                <a:ea typeface="Franklin Gothic Medium"/>
                <a:cs typeface="Franklin Gothic Medium"/>
              </a:rPr>
              <a:t>Hamburg University of Technology</a:t>
            </a:r>
            <a:endParaRPr/>
          </a:p>
        </p:txBody>
      </p:sp>
      <p:sp>
        <p:nvSpPr>
          <p:cNvPr id="80314726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8E44492-FBC1-A082-1E3B-F72996A5A9C2}" type="slidenum">
              <a:rPr lang="en-US"/>
              <a:t/>
            </a:fld>
            <a:endParaRPr lang="en-US"/>
          </a:p>
        </p:txBody>
      </p:sp>
      <p:pic>
        <p:nvPicPr>
          <p:cNvPr id="179674137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915092" y="1648884"/>
            <a:ext cx="6361814" cy="39730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8731458" name="Title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Micronix — </a:t>
            </a:r>
            <a:r>
              <a:rPr lang="en-US" sz="3200" b="1" i="0" u="none" strike="noStrike" cap="none" spc="0">
                <a:solidFill>
                  <a:schemeClr val="tx2"/>
                </a:solidFill>
                <a:latin typeface="Franklin Gothic Medium"/>
                <a:ea typeface="Franklin Gothic Medium"/>
                <a:cs typeface="Franklin Gothic Medium"/>
              </a:rPr>
              <a:t>Uppsala University</a:t>
            </a:r>
            <a:endParaRPr/>
          </a:p>
        </p:txBody>
      </p:sp>
      <p:sp>
        <p:nvSpPr>
          <p:cNvPr id="80848629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A1E2698-F1E7-7203-C9B5-5493A803FBD4}" type="slidenum">
              <a:rPr lang="en-US"/>
              <a:t/>
            </a:fld>
            <a:endParaRPr lang="en-US"/>
          </a:p>
        </p:txBody>
      </p:sp>
      <p:pic>
        <p:nvPicPr>
          <p:cNvPr id="10460676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780685" y="1437876"/>
            <a:ext cx="5626830" cy="44307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338669" name="Title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Nix as a solution for embedded security — University of Turku</a:t>
            </a:r>
            <a:endParaRPr/>
          </a:p>
        </p:txBody>
      </p:sp>
      <p:sp>
        <p:nvSpPr>
          <p:cNvPr id="13148365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348EBA1-94E4-3E6E-0DF1-3D3BB3771AEF}" type="slidenum">
              <a:rPr lang="en-US"/>
              <a:t/>
            </a:fld>
            <a:endParaRPr lang="en-US"/>
          </a:p>
        </p:txBody>
      </p:sp>
      <p:pic>
        <p:nvPicPr>
          <p:cNvPr id="152510451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160899" y="1525981"/>
            <a:ext cx="5870200" cy="41596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5905810" name="Title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Novelty</a:t>
            </a:r>
            <a:endParaRPr/>
          </a:p>
        </p:txBody>
      </p:sp>
      <p:sp>
        <p:nvSpPr>
          <p:cNvPr id="1213414512" name="Content Placeholder 2"/>
          <p:cNvSpPr>
            <a:spLocks noGrp="1"/>
          </p:cNvSpPr>
          <p:nvPr>
            <p:ph idx="1" hasCustomPrompt="1"/>
          </p:nvPr>
        </p:nvSpPr>
        <p:spPr bwMode="auto">
          <a:xfrm>
            <a:off x="1066799" y="1825624"/>
            <a:ext cx="10056812" cy="373697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>
            <a:lvl2pPr marL="777240" indent="-182880">
              <a:defRPr/>
            </a:lvl2pPr>
          </a:lstStyle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Due to the relative youth of NixOS in embedded systems, there are still many areas to explore</a:t>
            </a:r>
            <a:endParaRPr sz="2800"/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Franklin Gothic Book"/>
                <a:ea typeface="Franklin Gothic Book"/>
                <a:cs typeface="Franklin Gothic Book"/>
              </a:rPr>
              <a:t>Current research in Embedded NixOS focus on:</a:t>
            </a:r>
            <a:endParaRPr lang="en-US" sz="2800" b="0" i="0" u="none" strike="noStrike" cap="none" spc="0">
              <a:solidFill>
                <a:schemeClr val="tx1"/>
              </a:solidFill>
              <a:latin typeface="Franklin Gothic Book"/>
              <a:ea typeface="Franklin Gothic Book"/>
              <a:cs typeface="Franklin Gothic Book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Franklin Gothic Book"/>
                <a:ea typeface="Franklin Gothic Book"/>
                <a:cs typeface="Franklin Gothic Book"/>
              </a:rPr>
              <a:t>Reproducing typical firmware with NixOS as the build system</a:t>
            </a:r>
            <a:endParaRPr lang="en-US" sz="2800" b="0" i="0" u="none" strike="noStrike" cap="none" spc="0">
              <a:solidFill>
                <a:schemeClr val="tx1"/>
              </a:solidFill>
              <a:latin typeface="Franklin Gothic Book"/>
              <a:cs typeface="Franklin Gothic Book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Franklin Gothic Book"/>
                <a:ea typeface="Franklin Gothic Book"/>
                <a:cs typeface="Franklin Gothic Book"/>
              </a:rPr>
              <a:t>Reimplementing Nix-inspired systems on other OSes (BSD, RTOS, etc.)</a:t>
            </a:r>
            <a:endParaRPr lang="en-US" sz="2400" b="0" i="0" u="none" strike="noStrike" cap="none" spc="0">
              <a:solidFill>
                <a:schemeClr val="tx1"/>
              </a:solidFill>
              <a:latin typeface="Franklin Gothic Book"/>
              <a:ea typeface="Franklin Gothic Book"/>
              <a:cs typeface="Franklin Gothic Book"/>
            </a:endParaRPr>
          </a:p>
          <a:p>
            <a:pPr lvl="0"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Franklin Gothic Book"/>
                <a:ea typeface="Franklin Gothic Book"/>
                <a:cs typeface="Franklin Gothic Book"/>
              </a:rPr>
              <a:t>There is not yet a rehosting framework for firmware images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Franklin Gothic Book"/>
                <a:ea typeface="Franklin Gothic Book"/>
                <a:cs typeface="Franklin Gothic Book"/>
              </a:rPr>
              <a:t> with NixOS as the core operating system</a:t>
            </a:r>
            <a:endParaRPr lang="en-US" sz="2400" b="0" i="0" u="none" strike="noStrike" cap="none" spc="0">
              <a:solidFill>
                <a:schemeClr val="tx1"/>
              </a:solidFill>
              <a:latin typeface="Franklin Gothic Book"/>
              <a:ea typeface="Franklin Gothic Book"/>
              <a:cs typeface="Franklin Gothic Book"/>
            </a:endParaRPr>
          </a:p>
          <a:p>
            <a:pPr lvl="1"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Franklin Gothic Book"/>
                <a:ea typeface="Franklin Gothic Book"/>
                <a:cs typeface="Franklin Gothic Book"/>
              </a:rPr>
              <a:t>Unique userspace (FHS Non-Compliance, Nix Store, etc.) mean we can’t throw just any Linux framework at it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Franklin Gothic Book"/>
                <a:ea typeface="Franklin Gothic Book"/>
                <a:cs typeface="Franklin Gothic Book"/>
              </a:rPr>
              <a:t>.</a:t>
            </a:r>
            <a:endParaRPr lang="en-US" sz="2800" b="0" i="0" u="none" strike="noStrike" cap="none" spc="0">
              <a:solidFill>
                <a:schemeClr val="tx1"/>
              </a:solidFill>
              <a:latin typeface="Franklin Gothic Book"/>
              <a:ea typeface="Franklin Gothic Book"/>
              <a:cs typeface="Franklin Gothic Book"/>
            </a:endParaRPr>
          </a:p>
        </p:txBody>
      </p:sp>
      <p:sp>
        <p:nvSpPr>
          <p:cNvPr id="136225678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51911AD-E515-B3D1-DD8E-87F1446FC6F8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22978" name="Title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nixWRehosT: Data Sources</a:t>
            </a:r>
            <a:endParaRPr/>
          </a:p>
        </p:txBody>
      </p:sp>
      <p:sp>
        <p:nvSpPr>
          <p:cNvPr id="1610756785" name="Content Placeholder 2"/>
          <p:cNvSpPr>
            <a:spLocks noGrp="1"/>
          </p:cNvSpPr>
          <p:nvPr>
            <p:ph idx="1" hasCustomPrompt="1"/>
          </p:nvPr>
        </p:nvSpPr>
        <p:spPr bwMode="auto">
          <a:xfrm flipH="0" flipV="0">
            <a:off x="1066798" y="1756602"/>
            <a:ext cx="4704831" cy="427589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2pPr marL="777240" indent="-182880">
              <a:defRPr/>
            </a:lvl2pPr>
          </a:lstStyle>
          <a:p>
            <a:pPr lvl="0">
              <a:defRPr/>
            </a:pPr>
            <a:r>
              <a:rPr lang="en-US" sz="2200" b="0" i="0" u="none" strike="noStrike" cap="none" spc="0">
                <a:solidFill>
                  <a:schemeClr val="tx1"/>
                </a:solidFill>
                <a:latin typeface="Franklin Gothic Book"/>
                <a:ea typeface="Franklin Gothic Book"/>
                <a:cs typeface="Franklin Gothic Book"/>
              </a:rPr>
              <a:t>NixOS-based firmware is more popular in industry than academia:</a:t>
            </a:r>
            <a:endParaRPr sz="1800" b="0" i="0" u="none" strike="noStrike" cap="none" spc="0">
              <a:solidFill>
                <a:schemeClr val="tx1"/>
              </a:solidFill>
              <a:latin typeface="Franklin Gothic Book"/>
              <a:cs typeface="Franklin Gothic Book"/>
            </a:endParaRPr>
          </a:p>
          <a:p>
            <a:pPr lvl="1"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Franklin Gothic Book"/>
                <a:ea typeface="Franklin Gothic Book"/>
                <a:cs typeface="Franklin Gothic Book"/>
              </a:rPr>
              <a:t>Jetpack-NixOS — Firmware images for Nvidia Jetson by Anduril</a:t>
            </a:r>
            <a:endParaRPr lang="en-US" sz="1800" b="0" i="0" u="none" strike="noStrike" cap="none" spc="0">
              <a:solidFill>
                <a:schemeClr val="tx1"/>
              </a:solidFill>
              <a:latin typeface="Franklin Gothic Book"/>
              <a:ea typeface="Franklin Gothic Book"/>
              <a:cs typeface="Franklin Gothic Book"/>
            </a:endParaRPr>
          </a:p>
          <a:p>
            <a:pPr lvl="1">
              <a:defRPr/>
            </a:pPr>
            <a:r>
              <a:rPr lang="en-US" sz="1800" b="1" i="0" u="none" strike="noStrike" cap="none" spc="0">
                <a:solidFill>
                  <a:schemeClr val="tx1"/>
                </a:solidFill>
                <a:latin typeface="Franklin Gothic Book"/>
                <a:ea typeface="Franklin Gothic Book"/>
                <a:cs typeface="Franklin Gothic Book"/>
              </a:rPr>
              <a:t>NixWRT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Franklin Gothic Book"/>
                <a:ea typeface="Franklin Gothic Book"/>
                <a:cs typeface="Franklin Gothic Book"/>
              </a:rPr>
              <a:t>— Community firmware images for routers</a:t>
            </a:r>
            <a:endParaRPr lang="en-US" sz="1800" b="0" i="0" u="none" strike="noStrike" cap="none" spc="0">
              <a:solidFill>
                <a:schemeClr val="tx1"/>
              </a:solidFill>
              <a:latin typeface="Franklin Gothic Book"/>
              <a:ea typeface="Franklin Gothic Book"/>
              <a:cs typeface="Franklin Gothic Book"/>
            </a:endParaRPr>
          </a:p>
          <a:p>
            <a:pPr lvl="1"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Franklin Gothic Book"/>
                <a:ea typeface="Franklin Gothic Book"/>
                <a:cs typeface="Franklin Gothic Book"/>
              </a:rPr>
              <a:t>NixOS-Baloo — PoC based on Android/Chromebook boards</a:t>
            </a:r>
            <a:endParaRPr lang="en-US" sz="1800" b="0" i="0" u="none" strike="noStrike" cap="none" spc="0">
              <a:solidFill>
                <a:schemeClr val="tx1"/>
              </a:solidFill>
              <a:latin typeface="Franklin Gothic Book"/>
              <a:ea typeface="Franklin Gothic Book"/>
              <a:cs typeface="Franklin Gothic Book"/>
            </a:endParaRPr>
          </a:p>
          <a:p>
            <a:pPr lvl="0">
              <a:defRPr/>
            </a:pPr>
            <a:r>
              <a:rPr lang="en-US" sz="2200" b="0" i="0" u="none" strike="noStrike" cap="none" spc="0">
                <a:solidFill>
                  <a:schemeClr val="tx1"/>
                </a:solidFill>
                <a:latin typeface="Franklin Gothic Book"/>
                <a:ea typeface="Franklin Gothic Book"/>
                <a:cs typeface="Franklin Gothic Book"/>
              </a:rPr>
              <a:t>Diverse set of hardware that </a:t>
            </a:r>
            <a:r>
              <a:rPr lang="en-US" sz="2200" b="1" i="0" u="none" strike="noStrike" cap="none" spc="0">
                <a:solidFill>
                  <a:schemeClr val="tx1"/>
                </a:solidFill>
                <a:latin typeface="Franklin Gothic Book"/>
                <a:ea typeface="Franklin Gothic Book"/>
                <a:cs typeface="Franklin Gothic Book"/>
              </a:rPr>
              <a:t>nixWRehosT </a:t>
            </a:r>
            <a:r>
              <a:rPr lang="en-US" sz="2200" b="0" i="0" u="none" strike="noStrike" cap="none" spc="0">
                <a:solidFill>
                  <a:schemeClr val="tx1"/>
                </a:solidFill>
                <a:latin typeface="Franklin Gothic Book"/>
                <a:ea typeface="Franklin Gothic Book"/>
                <a:cs typeface="Franklin Gothic Book"/>
              </a:rPr>
              <a:t>can evaluate</a:t>
            </a:r>
            <a:endParaRPr lang="en-US" sz="2200" b="0" i="0" u="none" strike="noStrike" cap="none" spc="0">
              <a:solidFill>
                <a:schemeClr val="tx1"/>
              </a:solidFill>
              <a:latin typeface="Franklin Gothic Book"/>
              <a:ea typeface="Franklin Gothic Book"/>
              <a:cs typeface="Franklin Gothic Book"/>
            </a:endParaRPr>
          </a:p>
          <a:p>
            <a:pPr lvl="1"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Franklin Gothic Book"/>
                <a:ea typeface="Franklin Gothic Book"/>
                <a:cs typeface="Franklin Gothic Book"/>
              </a:rPr>
              <a:t>Supports community interest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Franklin Gothic Book"/>
                <a:ea typeface="Franklin Gothic Book"/>
                <a:cs typeface="Franklin Gothic Book"/>
              </a:rPr>
              <a:t>s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Franklin Gothic Book"/>
                <a:ea typeface="Franklin Gothic Book"/>
                <a:cs typeface="Franklin Gothic Book"/>
              </a:rPr>
              <a:t>!</a:t>
            </a:r>
            <a:endParaRPr lang="en-US" sz="1800" b="0" i="0" u="none" strike="noStrike" cap="none" spc="0">
              <a:solidFill>
                <a:schemeClr val="tx1"/>
              </a:solidFill>
              <a:latin typeface="Franklin Gothic Book"/>
              <a:ea typeface="Franklin Gothic Book"/>
              <a:cs typeface="Franklin Gothic Book"/>
            </a:endParaRPr>
          </a:p>
          <a:p>
            <a:pPr lvl="1"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Franklin Gothic Book"/>
                <a:ea typeface="Franklin Gothic Book"/>
                <a:cs typeface="Franklin Gothic Book"/>
              </a:rPr>
              <a:t>At least that was the thought...</a:t>
            </a:r>
            <a:endParaRPr sz="2600"/>
          </a:p>
        </p:txBody>
      </p:sp>
      <p:sp>
        <p:nvSpPr>
          <p:cNvPr id="109204894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BA4C7FC-FA28-E280-C72D-43DD526B9DB6}" type="slidenum">
              <a:rPr lang="en-US"/>
              <a:t/>
            </a:fld>
            <a:endParaRPr lang="en-US"/>
          </a:p>
        </p:txBody>
      </p:sp>
      <p:pic>
        <p:nvPicPr>
          <p:cNvPr id="140978275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967097" y="1628912"/>
            <a:ext cx="5988019" cy="33682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9885977" name="Title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nixWRehosT: Proposed Architecture</a:t>
            </a:r>
            <a:endParaRPr/>
          </a:p>
        </p:txBody>
      </p:sp>
      <p:sp>
        <p:nvSpPr>
          <p:cNvPr id="42118863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2DDD34E-3B3C-EA8A-2848-0BA599CBD684}" type="slidenum">
              <a:rPr lang="en-US"/>
              <a:t/>
            </a:fld>
            <a:endParaRPr lang="en-US"/>
          </a:p>
        </p:txBody>
      </p:sp>
      <p:pic>
        <p:nvPicPr>
          <p:cNvPr id="3536874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185581" y="1371600"/>
            <a:ext cx="7820836" cy="4499748"/>
          </a:xfrm>
          <a:prstGeom prst="rect">
            <a:avLst/>
          </a:prstGeom>
        </p:spPr>
      </p:pic>
      <p:pic>
        <p:nvPicPr>
          <p:cNvPr id="96036444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2185581" y="1371599"/>
            <a:ext cx="7820836" cy="4499748"/>
          </a:xfrm>
          <a:prstGeom prst="rect">
            <a:avLst/>
          </a:prstGeom>
        </p:spPr>
      </p:pic>
      <p:pic>
        <p:nvPicPr>
          <p:cNvPr id="378179957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2185581" y="1371600"/>
            <a:ext cx="7820836" cy="44997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0347306" name="Title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200" b="1" i="0" u="none" strike="noStrike" cap="none" spc="0">
                <a:solidFill>
                  <a:schemeClr val="tx2"/>
                </a:solidFill>
                <a:latin typeface="Franklin Gothic Medium"/>
                <a:ea typeface="Franklin Gothic Medium"/>
                <a:cs typeface="Franklin Gothic Medium"/>
              </a:rPr>
              <a:t>nixWRehosT: </a:t>
            </a:r>
            <a:r>
              <a:rPr/>
              <a:t>Where It’s Actually At</a:t>
            </a:r>
            <a:endParaRPr/>
          </a:p>
        </p:txBody>
      </p:sp>
      <p:sp>
        <p:nvSpPr>
          <p:cNvPr id="55134972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3CFC379-44CE-92B6-3332-12775F6D7BDB}" type="slidenum">
              <a:rPr lang="en-US"/>
              <a:t/>
            </a:fld>
            <a:endParaRPr lang="en-US"/>
          </a:p>
        </p:txBody>
      </p:sp>
      <p:pic>
        <p:nvPicPr>
          <p:cNvPr id="62270696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185580" y="1371600"/>
            <a:ext cx="7820835" cy="4499748"/>
          </a:xfrm>
          <a:prstGeom prst="rect">
            <a:avLst/>
          </a:prstGeom>
        </p:spPr>
      </p:pic>
      <p:pic>
        <p:nvPicPr>
          <p:cNvPr id="189845126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2185580" y="1380434"/>
            <a:ext cx="7820835" cy="4499748"/>
          </a:xfrm>
          <a:prstGeom prst="rect">
            <a:avLst/>
          </a:prstGeom>
        </p:spPr>
      </p:pic>
      <p:pic>
        <p:nvPicPr>
          <p:cNvPr id="552476797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2185580" y="1371599"/>
            <a:ext cx="7946413" cy="4572000"/>
          </a:xfrm>
          <a:prstGeom prst="rect">
            <a:avLst/>
          </a:prstGeom>
        </p:spPr>
      </p:pic>
      <p:sp>
        <p:nvSpPr>
          <p:cNvPr id="1338006439" name=""/>
          <p:cNvSpPr/>
          <p:nvPr/>
        </p:nvSpPr>
        <p:spPr bwMode="auto">
          <a:xfrm>
            <a:off x="940108" y="1380434"/>
            <a:ext cx="5162825" cy="4403586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17557" y="406"/>
                </a:moveTo>
                <a:cubicBezTo>
                  <a:pt x="16864" y="406"/>
                  <a:pt x="16286" y="541"/>
                  <a:pt x="15709" y="541"/>
                </a:cubicBezTo>
                <a:cubicBezTo>
                  <a:pt x="15362" y="677"/>
                  <a:pt x="14900" y="677"/>
                  <a:pt x="14207" y="812"/>
                </a:cubicBezTo>
                <a:cubicBezTo>
                  <a:pt x="13514" y="1083"/>
                  <a:pt x="12936" y="1354"/>
                  <a:pt x="12243" y="1489"/>
                </a:cubicBezTo>
                <a:cubicBezTo>
                  <a:pt x="11897" y="1760"/>
                  <a:pt x="11435" y="1895"/>
                  <a:pt x="11088" y="2031"/>
                </a:cubicBezTo>
                <a:cubicBezTo>
                  <a:pt x="10280" y="2708"/>
                  <a:pt x="9702" y="2979"/>
                  <a:pt x="9125" y="3250"/>
                </a:cubicBezTo>
                <a:cubicBezTo>
                  <a:pt x="8547" y="3656"/>
                  <a:pt x="7854" y="4062"/>
                  <a:pt x="7161" y="4468"/>
                </a:cubicBezTo>
                <a:cubicBezTo>
                  <a:pt x="6237" y="5010"/>
                  <a:pt x="5775" y="5552"/>
                  <a:pt x="5313" y="5823"/>
                </a:cubicBezTo>
                <a:cubicBezTo>
                  <a:pt x="4966" y="6094"/>
                  <a:pt x="4735" y="6500"/>
                  <a:pt x="4389" y="6906"/>
                </a:cubicBezTo>
                <a:cubicBezTo>
                  <a:pt x="3927" y="7448"/>
                  <a:pt x="3580" y="8260"/>
                  <a:pt x="3234" y="9208"/>
                </a:cubicBezTo>
                <a:cubicBezTo>
                  <a:pt x="2772" y="10563"/>
                  <a:pt x="2310" y="12052"/>
                  <a:pt x="1270" y="16115"/>
                </a:cubicBezTo>
                <a:cubicBezTo>
                  <a:pt x="1039" y="16521"/>
                  <a:pt x="693" y="18688"/>
                  <a:pt x="346" y="20719"/>
                </a:cubicBezTo>
                <a:cubicBezTo>
                  <a:pt x="231" y="22344"/>
                  <a:pt x="0" y="23428"/>
                  <a:pt x="0" y="24376"/>
                </a:cubicBezTo>
                <a:cubicBezTo>
                  <a:pt x="0" y="25053"/>
                  <a:pt x="0" y="25594"/>
                  <a:pt x="231" y="26272"/>
                </a:cubicBezTo>
                <a:cubicBezTo>
                  <a:pt x="346" y="26813"/>
                  <a:pt x="346" y="27761"/>
                  <a:pt x="462" y="28303"/>
                </a:cubicBezTo>
                <a:cubicBezTo>
                  <a:pt x="577" y="29251"/>
                  <a:pt x="693" y="30063"/>
                  <a:pt x="808" y="31011"/>
                </a:cubicBezTo>
                <a:cubicBezTo>
                  <a:pt x="1039" y="31959"/>
                  <a:pt x="1155" y="32772"/>
                  <a:pt x="1386" y="33720"/>
                </a:cubicBezTo>
                <a:cubicBezTo>
                  <a:pt x="1732" y="34397"/>
                  <a:pt x="1963" y="34939"/>
                  <a:pt x="2194" y="35345"/>
                </a:cubicBezTo>
                <a:cubicBezTo>
                  <a:pt x="2425" y="35616"/>
                  <a:pt x="2887" y="36293"/>
                  <a:pt x="3118" y="36699"/>
                </a:cubicBezTo>
                <a:cubicBezTo>
                  <a:pt x="3349" y="36970"/>
                  <a:pt x="3696" y="37512"/>
                  <a:pt x="3927" y="37918"/>
                </a:cubicBezTo>
                <a:cubicBezTo>
                  <a:pt x="4273" y="38324"/>
                  <a:pt x="4851" y="39001"/>
                  <a:pt x="5197" y="39408"/>
                </a:cubicBezTo>
                <a:cubicBezTo>
                  <a:pt x="5659" y="39678"/>
                  <a:pt x="6121" y="40085"/>
                  <a:pt x="6699" y="40220"/>
                </a:cubicBezTo>
                <a:cubicBezTo>
                  <a:pt x="7161" y="40491"/>
                  <a:pt x="7854" y="40626"/>
                  <a:pt x="8432" y="40897"/>
                </a:cubicBezTo>
                <a:cubicBezTo>
                  <a:pt x="9240" y="41304"/>
                  <a:pt x="10164" y="41710"/>
                  <a:pt x="10973" y="42116"/>
                </a:cubicBezTo>
                <a:cubicBezTo>
                  <a:pt x="11897" y="42387"/>
                  <a:pt x="12705" y="42522"/>
                  <a:pt x="13398" y="42793"/>
                </a:cubicBezTo>
                <a:cubicBezTo>
                  <a:pt x="14091" y="42793"/>
                  <a:pt x="15016" y="42929"/>
                  <a:pt x="15593" y="42929"/>
                </a:cubicBezTo>
                <a:cubicBezTo>
                  <a:pt x="16171" y="42929"/>
                  <a:pt x="16633" y="42929"/>
                  <a:pt x="17095" y="42929"/>
                </a:cubicBezTo>
                <a:cubicBezTo>
                  <a:pt x="17672" y="42929"/>
                  <a:pt x="18250" y="42929"/>
                  <a:pt x="19058" y="42929"/>
                </a:cubicBezTo>
                <a:cubicBezTo>
                  <a:pt x="19751" y="42929"/>
                  <a:pt x="20213" y="43064"/>
                  <a:pt x="21253" y="43064"/>
                </a:cubicBezTo>
                <a:cubicBezTo>
                  <a:pt x="21715" y="43200"/>
                  <a:pt x="22293" y="43200"/>
                  <a:pt x="22639" y="43200"/>
                </a:cubicBezTo>
                <a:cubicBezTo>
                  <a:pt x="23101" y="43200"/>
                  <a:pt x="23448" y="43200"/>
                  <a:pt x="24141" y="43200"/>
                </a:cubicBezTo>
                <a:cubicBezTo>
                  <a:pt x="24603" y="43200"/>
                  <a:pt x="25180" y="43200"/>
                  <a:pt x="25758" y="43200"/>
                </a:cubicBezTo>
                <a:cubicBezTo>
                  <a:pt x="26451" y="43200"/>
                  <a:pt x="26913" y="43200"/>
                  <a:pt x="27606" y="43064"/>
                </a:cubicBezTo>
                <a:cubicBezTo>
                  <a:pt x="27952" y="43064"/>
                  <a:pt x="28414" y="42929"/>
                  <a:pt x="28761" y="42793"/>
                </a:cubicBezTo>
                <a:cubicBezTo>
                  <a:pt x="29339" y="42793"/>
                  <a:pt x="30032" y="42793"/>
                  <a:pt x="30609" y="42793"/>
                </a:cubicBezTo>
                <a:cubicBezTo>
                  <a:pt x="31764" y="42793"/>
                  <a:pt x="33150" y="43064"/>
                  <a:pt x="33959" y="43064"/>
                </a:cubicBezTo>
                <a:cubicBezTo>
                  <a:pt x="34421" y="43064"/>
                  <a:pt x="34883" y="43200"/>
                  <a:pt x="35345" y="43200"/>
                </a:cubicBezTo>
                <a:cubicBezTo>
                  <a:pt x="35691" y="42929"/>
                  <a:pt x="36154" y="42929"/>
                  <a:pt x="36616" y="42793"/>
                </a:cubicBezTo>
                <a:cubicBezTo>
                  <a:pt x="36962" y="42793"/>
                  <a:pt x="37655" y="42658"/>
                  <a:pt x="38464" y="42522"/>
                </a:cubicBezTo>
                <a:cubicBezTo>
                  <a:pt x="38926" y="42522"/>
                  <a:pt x="39272" y="42387"/>
                  <a:pt x="39850" y="42116"/>
                </a:cubicBezTo>
                <a:cubicBezTo>
                  <a:pt x="40196" y="41981"/>
                  <a:pt x="40427" y="41710"/>
                  <a:pt x="40774" y="41574"/>
                </a:cubicBezTo>
                <a:cubicBezTo>
                  <a:pt x="41236" y="41304"/>
                  <a:pt x="41582" y="40897"/>
                  <a:pt x="41929" y="40491"/>
                </a:cubicBezTo>
                <a:cubicBezTo>
                  <a:pt x="42160" y="40220"/>
                  <a:pt x="42391" y="39814"/>
                  <a:pt x="42737" y="39272"/>
                </a:cubicBezTo>
                <a:cubicBezTo>
                  <a:pt x="42968" y="38866"/>
                  <a:pt x="43084" y="38460"/>
                  <a:pt x="43200" y="37918"/>
                </a:cubicBezTo>
                <a:cubicBezTo>
                  <a:pt x="43200" y="37512"/>
                  <a:pt x="43200" y="37105"/>
                  <a:pt x="43200" y="36428"/>
                </a:cubicBezTo>
                <a:cubicBezTo>
                  <a:pt x="43200" y="36022"/>
                  <a:pt x="43084" y="35480"/>
                  <a:pt x="43084" y="35074"/>
                </a:cubicBezTo>
                <a:cubicBezTo>
                  <a:pt x="43084" y="34532"/>
                  <a:pt x="42968" y="34126"/>
                  <a:pt x="42968" y="33584"/>
                </a:cubicBezTo>
                <a:cubicBezTo>
                  <a:pt x="42968" y="33178"/>
                  <a:pt x="42853" y="32772"/>
                  <a:pt x="42853" y="32366"/>
                </a:cubicBezTo>
                <a:cubicBezTo>
                  <a:pt x="42853" y="31553"/>
                  <a:pt x="42737" y="31147"/>
                  <a:pt x="42622" y="30741"/>
                </a:cubicBezTo>
                <a:cubicBezTo>
                  <a:pt x="42622" y="30199"/>
                  <a:pt x="42622" y="29657"/>
                  <a:pt x="42506" y="29115"/>
                </a:cubicBezTo>
                <a:cubicBezTo>
                  <a:pt x="42391" y="28574"/>
                  <a:pt x="42391" y="28032"/>
                  <a:pt x="42391" y="27490"/>
                </a:cubicBezTo>
                <a:cubicBezTo>
                  <a:pt x="42275" y="26813"/>
                  <a:pt x="42275" y="26136"/>
                  <a:pt x="42160" y="25324"/>
                </a:cubicBezTo>
                <a:cubicBezTo>
                  <a:pt x="42160" y="24647"/>
                  <a:pt x="42160" y="23969"/>
                  <a:pt x="42044" y="23428"/>
                </a:cubicBezTo>
                <a:cubicBezTo>
                  <a:pt x="42044" y="22886"/>
                  <a:pt x="42044" y="22344"/>
                  <a:pt x="42044" y="21803"/>
                </a:cubicBezTo>
                <a:cubicBezTo>
                  <a:pt x="41929" y="21396"/>
                  <a:pt x="41929" y="20990"/>
                  <a:pt x="41929" y="20584"/>
                </a:cubicBezTo>
                <a:cubicBezTo>
                  <a:pt x="41813" y="20178"/>
                  <a:pt x="41813" y="19771"/>
                  <a:pt x="41698" y="19365"/>
                </a:cubicBezTo>
                <a:cubicBezTo>
                  <a:pt x="41698" y="18823"/>
                  <a:pt x="41698" y="18011"/>
                  <a:pt x="41467" y="17605"/>
                </a:cubicBezTo>
                <a:cubicBezTo>
                  <a:pt x="41351" y="17063"/>
                  <a:pt x="41351" y="16386"/>
                  <a:pt x="41236" y="15438"/>
                </a:cubicBezTo>
                <a:cubicBezTo>
                  <a:pt x="41120" y="14761"/>
                  <a:pt x="41120" y="14354"/>
                  <a:pt x="41005" y="13406"/>
                </a:cubicBezTo>
                <a:cubicBezTo>
                  <a:pt x="40889" y="12729"/>
                  <a:pt x="40774" y="12323"/>
                  <a:pt x="40774" y="11917"/>
                </a:cubicBezTo>
                <a:cubicBezTo>
                  <a:pt x="40774" y="11510"/>
                  <a:pt x="40658" y="11104"/>
                  <a:pt x="40543" y="10698"/>
                </a:cubicBezTo>
                <a:cubicBezTo>
                  <a:pt x="40543" y="10156"/>
                  <a:pt x="40427" y="9750"/>
                  <a:pt x="40427" y="9344"/>
                </a:cubicBezTo>
                <a:cubicBezTo>
                  <a:pt x="40312" y="8667"/>
                  <a:pt x="40081" y="8260"/>
                  <a:pt x="40081" y="7719"/>
                </a:cubicBezTo>
                <a:cubicBezTo>
                  <a:pt x="39965" y="7177"/>
                  <a:pt x="39965" y="6771"/>
                  <a:pt x="39734" y="6364"/>
                </a:cubicBezTo>
                <a:cubicBezTo>
                  <a:pt x="39734" y="5958"/>
                  <a:pt x="39619" y="5416"/>
                  <a:pt x="39503" y="5010"/>
                </a:cubicBezTo>
                <a:cubicBezTo>
                  <a:pt x="39388" y="4604"/>
                  <a:pt x="39272" y="4198"/>
                  <a:pt x="39157" y="3656"/>
                </a:cubicBezTo>
                <a:cubicBezTo>
                  <a:pt x="38926" y="3250"/>
                  <a:pt x="38810" y="2843"/>
                  <a:pt x="38579" y="2166"/>
                </a:cubicBezTo>
                <a:cubicBezTo>
                  <a:pt x="38348" y="1760"/>
                  <a:pt x="38117" y="1354"/>
                  <a:pt x="37886" y="1083"/>
                </a:cubicBezTo>
                <a:cubicBezTo>
                  <a:pt x="37193" y="677"/>
                  <a:pt x="36847" y="406"/>
                  <a:pt x="36385" y="135"/>
                </a:cubicBezTo>
                <a:cubicBezTo>
                  <a:pt x="36038" y="0"/>
                  <a:pt x="35345" y="0"/>
                  <a:pt x="34883" y="0"/>
                </a:cubicBezTo>
                <a:cubicBezTo>
                  <a:pt x="34421" y="0"/>
                  <a:pt x="34074" y="0"/>
                  <a:pt x="33728" y="0"/>
                </a:cubicBezTo>
                <a:cubicBezTo>
                  <a:pt x="33150" y="0"/>
                  <a:pt x="32688" y="0"/>
                  <a:pt x="32226" y="0"/>
                </a:cubicBezTo>
                <a:cubicBezTo>
                  <a:pt x="31649" y="0"/>
                  <a:pt x="31187" y="0"/>
                  <a:pt x="30494" y="0"/>
                </a:cubicBezTo>
                <a:cubicBezTo>
                  <a:pt x="30032" y="0"/>
                  <a:pt x="29454" y="0"/>
                  <a:pt x="29108" y="0"/>
                </a:cubicBezTo>
                <a:cubicBezTo>
                  <a:pt x="28761" y="0"/>
                  <a:pt x="28414" y="0"/>
                  <a:pt x="27837" y="0"/>
                </a:cubicBezTo>
                <a:cubicBezTo>
                  <a:pt x="27490" y="0"/>
                  <a:pt x="26913" y="0"/>
                  <a:pt x="26566" y="0"/>
                </a:cubicBezTo>
                <a:cubicBezTo>
                  <a:pt x="26220" y="0"/>
                  <a:pt x="25873" y="0"/>
                  <a:pt x="25296" y="0"/>
                </a:cubicBezTo>
                <a:cubicBezTo>
                  <a:pt x="24718" y="0"/>
                  <a:pt x="24141" y="0"/>
                  <a:pt x="23563" y="0"/>
                </a:cubicBezTo>
                <a:cubicBezTo>
                  <a:pt x="22986" y="0"/>
                  <a:pt x="22639" y="0"/>
                  <a:pt x="22293" y="0"/>
                </a:cubicBezTo>
                <a:cubicBezTo>
                  <a:pt x="21946" y="0"/>
                  <a:pt x="21484" y="0"/>
                  <a:pt x="21137" y="0"/>
                </a:cubicBezTo>
                <a:cubicBezTo>
                  <a:pt x="20791" y="0"/>
                  <a:pt x="20329" y="0"/>
                  <a:pt x="19982" y="0"/>
                </a:cubicBezTo>
                <a:cubicBezTo>
                  <a:pt x="19520" y="0"/>
                  <a:pt x="19058" y="0"/>
                  <a:pt x="18596" y="0"/>
                </a:cubicBezTo>
                <a:cubicBezTo>
                  <a:pt x="18250" y="0"/>
                  <a:pt x="17672" y="135"/>
                  <a:pt x="17326" y="135"/>
                </a:cubicBezTo>
                <a:cubicBezTo>
                  <a:pt x="16864" y="406"/>
                  <a:pt x="16517" y="541"/>
                  <a:pt x="16171" y="812"/>
                </a:cubicBezTo>
              </a:path>
            </a:pathLst>
          </a:custGeom>
          <a:noFill/>
          <a:ln w="36000">
            <a:solidFill>
              <a:srgbClr val="D43230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>
            <a:alpha val="99999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7480643" name="Title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Roadblocks This Semester</a:t>
            </a:r>
            <a:endParaRPr/>
          </a:p>
        </p:txBody>
      </p:sp>
      <p:sp>
        <p:nvSpPr>
          <p:cNvPr id="917831590" name="Content Placeholder 2"/>
          <p:cNvSpPr>
            <a:spLocks noGrp="1"/>
          </p:cNvSpPr>
          <p:nvPr>
            <p:ph idx="1" hasCustomPrompt="1"/>
          </p:nvPr>
        </p:nvSpPr>
        <p:spPr bwMode="auto">
          <a:xfrm flipH="0" flipV="0">
            <a:off x="1066799" y="1825624"/>
            <a:ext cx="7131592" cy="3736974"/>
          </a:xfrm>
        </p:spPr>
        <p:txBody>
          <a:bodyPr/>
          <a:lstStyle>
            <a:lvl2pPr marL="777240" indent="-182880">
              <a:defRPr/>
            </a:lvl2pPr>
          </a:lstStyle>
          <a:p>
            <a:pPr>
              <a:defRPr/>
            </a:pPr>
            <a:r>
              <a:rPr i="1"/>
              <a:t>The most basic thing</a:t>
            </a:r>
            <a:r>
              <a:rPr/>
              <a:t> — Com</a:t>
            </a:r>
            <a:r>
              <a:rPr/>
              <a:t>piling Test Images...</a:t>
            </a:r>
            <a:endParaRPr/>
          </a:p>
          <a:p>
            <a:pPr lvl="1">
              <a:defRPr/>
            </a:pPr>
            <a:r>
              <a:rPr/>
              <a:t>Most non-corporate, community images</a:t>
            </a:r>
            <a:r>
              <a:rPr/>
              <a:t> turned out to be </a:t>
            </a:r>
            <a:r>
              <a:rPr i="1"/>
              <a:t>abandonware </a:t>
            </a:r>
            <a:r>
              <a:rPr/>
              <a:t>:(</a:t>
            </a:r>
            <a:endParaRPr/>
          </a:p>
          <a:p>
            <a:pPr lvl="1">
              <a:defRPr/>
            </a:pPr>
            <a:r>
              <a:rPr/>
              <a:t>Anduril doesn’t release all their work...</a:t>
            </a:r>
            <a:endParaRPr/>
          </a:p>
          <a:p>
            <a:pPr lvl="1">
              <a:defRPr/>
            </a:pPr>
            <a:r>
              <a:rPr/>
              <a:t>In the end, not many firmware images to experiment with</a:t>
            </a:r>
            <a:endParaRPr/>
          </a:p>
        </p:txBody>
      </p:sp>
      <p:sp>
        <p:nvSpPr>
          <p:cNvPr id="2665408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9EA167A-8FC4-A63B-A8B6-D8328FCC8732}" type="slidenum">
              <a:rPr lang="en-US"/>
              <a:t/>
            </a:fld>
            <a:endParaRPr lang="en-US"/>
          </a:p>
        </p:txBody>
      </p:sp>
      <p:pic>
        <p:nvPicPr>
          <p:cNvPr id="109436609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775290" y="1512938"/>
            <a:ext cx="2643048" cy="2104297"/>
          </a:xfrm>
          <a:prstGeom prst="rect">
            <a:avLst/>
          </a:prstGeom>
        </p:spPr>
      </p:pic>
      <p:pic>
        <p:nvPicPr>
          <p:cNvPr id="171622773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7430236" y="3617236"/>
            <a:ext cx="3278289" cy="2326363"/>
          </a:xfrm>
          <a:prstGeom prst="rect">
            <a:avLst/>
          </a:prstGeom>
        </p:spPr>
      </p:pic>
      <p:sp>
        <p:nvSpPr>
          <p:cNvPr id="96918920" name=""/>
          <p:cNvSpPr/>
          <p:nvPr/>
        </p:nvSpPr>
        <p:spPr bwMode="auto">
          <a:xfrm rot="0" flipH="0" flipV="0">
            <a:off x="9758538" y="2957762"/>
            <a:ext cx="606806" cy="169517"/>
          </a:xfrm>
          <a:prstGeom prst="rect">
            <a:avLst/>
          </a:prstGeom>
          <a:solidFill>
            <a:schemeClr val="tx2">
              <a:alpha val="0"/>
            </a:schemeClr>
          </a:solidFill>
          <a:ln w="12699" cap="flat" cmpd="sng" algn="ctr">
            <a:solidFill>
              <a:srgbClr val="FF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67701658" name=""/>
          <p:cNvSpPr/>
          <p:nvPr/>
        </p:nvSpPr>
        <p:spPr bwMode="auto">
          <a:xfrm rot="0" flipH="0" flipV="0">
            <a:off x="9992401" y="4858501"/>
            <a:ext cx="606805" cy="169516"/>
          </a:xfrm>
          <a:prstGeom prst="rect">
            <a:avLst/>
          </a:prstGeom>
          <a:solidFill>
            <a:schemeClr val="tx2">
              <a:alpha val="0"/>
            </a:schemeClr>
          </a:solidFill>
          <a:ln w="12699" cap="flat" cmpd="sng" algn="ctr">
            <a:solidFill>
              <a:srgbClr val="FF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1940114" name="Title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200" b="1" i="0" u="none" strike="noStrike" cap="none" spc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Roadblocks This Semester</a:t>
            </a:r>
            <a:endParaRPr sz="3200"/>
          </a:p>
        </p:txBody>
      </p:sp>
      <p:sp>
        <p:nvSpPr>
          <p:cNvPr id="611031442" name="Content Placeholder 2"/>
          <p:cNvSpPr>
            <a:spLocks noGrp="1"/>
          </p:cNvSpPr>
          <p:nvPr>
            <p:ph idx="1" hasCustomPrompt="1"/>
          </p:nvPr>
        </p:nvSpPr>
        <p:spPr bwMode="auto">
          <a:xfrm flipH="0" flipV="0">
            <a:off x="1066799" y="1825624"/>
            <a:ext cx="4837178" cy="3736974"/>
          </a:xfrm>
        </p:spPr>
        <p:txBody>
          <a:bodyPr/>
          <a:lstStyle>
            <a:lvl2pPr marL="777240" indent="-182880">
              <a:defRPr/>
            </a:lvl2pPr>
          </a:lstStyle>
          <a:p>
            <a:pPr>
              <a:defRPr/>
            </a:pPr>
            <a:r>
              <a:rPr/>
              <a:t>Direct and indirect dependencies</a:t>
            </a:r>
            <a:endParaRPr/>
          </a:p>
          <a:p>
            <a:pPr lvl="1">
              <a:defRPr/>
            </a:pPr>
            <a:r>
              <a:rPr/>
              <a:t>Nixpkgs</a:t>
            </a:r>
            <a:r>
              <a:rPr/>
              <a:t> = Strict version hashing</a:t>
            </a:r>
            <a:endParaRPr/>
          </a:p>
          <a:p>
            <a:pPr lvl="1">
              <a:defRPr/>
            </a:pPr>
            <a:endParaRPr/>
          </a:p>
          <a:p>
            <a:pPr lvl="1">
              <a:defRPr/>
            </a:pPr>
            <a:r>
              <a:rPr/>
              <a:t>3rd-Party Rust Crate = No longer available</a:t>
            </a:r>
            <a:endParaRPr/>
          </a:p>
        </p:txBody>
      </p:sp>
      <p:sp>
        <p:nvSpPr>
          <p:cNvPr id="21961237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6F407E-D4E7-F2A2-A73D-5A6C293B098D}" type="slidenum">
              <a:rPr lang="en-US"/>
              <a:t/>
            </a:fld>
            <a:endParaRPr lang="en-US"/>
          </a:p>
        </p:txBody>
      </p:sp>
      <p:pic>
        <p:nvPicPr>
          <p:cNvPr id="74396181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095206" y="3694112"/>
            <a:ext cx="5145035" cy="1979762"/>
          </a:xfrm>
          <a:prstGeom prst="rect">
            <a:avLst/>
          </a:prstGeom>
        </p:spPr>
      </p:pic>
      <p:pic>
        <p:nvPicPr>
          <p:cNvPr id="1388288897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903978" y="1796384"/>
            <a:ext cx="5678421" cy="16326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9686500" name="Title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Live Demo</a:t>
            </a:r>
            <a:endParaRPr/>
          </a:p>
        </p:txBody>
      </p:sp>
      <p:sp>
        <p:nvSpPr>
          <p:cNvPr id="59873141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633D87C-5352-6EDE-2F00-C616F1738E88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872143" name="Title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Next Steps</a:t>
            </a:r>
            <a:endParaRPr/>
          </a:p>
        </p:txBody>
      </p:sp>
      <p:sp>
        <p:nvSpPr>
          <p:cNvPr id="1042262952" name="Content Placeholder 2"/>
          <p:cNvSpPr>
            <a:spLocks noGrp="1"/>
          </p:cNvSpPr>
          <p:nvPr>
            <p:ph idx="1" hasCustomPrompt="1"/>
          </p:nvPr>
        </p:nvSpPr>
        <p:spPr bwMode="auto">
          <a:xfrm flipH="0" flipV="0">
            <a:off x="1066799" y="1825624"/>
            <a:ext cx="6037521" cy="373697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65000" lnSpcReduction="7000"/>
          </a:bodyPr>
          <a:lstStyle>
            <a:lvl2pPr marL="777240" indent="-182880">
              <a:defRPr/>
            </a:lvl2pPr>
          </a:lstStyle>
          <a:p>
            <a:pPr>
              <a:defRPr/>
            </a:pPr>
            <a:r>
              <a:rPr b="1"/>
              <a:t>Fidelity Stretch Goal:</a:t>
            </a:r>
            <a:r>
              <a:rPr/>
              <a:t> Get OpenWRT Web Interface working</a:t>
            </a:r>
            <a:endParaRPr/>
          </a:p>
          <a:p>
            <a:pPr>
              <a:defRPr/>
            </a:pPr>
            <a:r>
              <a:rPr/>
              <a:t>Successfully debug all NixOS images that failed</a:t>
            </a:r>
            <a:r>
              <a:rPr/>
              <a:t> compiling</a:t>
            </a:r>
            <a:endParaRPr/>
          </a:p>
          <a:p>
            <a:pPr lvl="1">
              <a:defRPr/>
            </a:pPr>
            <a:r>
              <a:rPr/>
              <a:t>We need more images for unit tests</a:t>
            </a:r>
            <a:r>
              <a:rPr/>
              <a:t> :)</a:t>
            </a:r>
            <a:endParaRPr/>
          </a:p>
          <a:p>
            <a:pPr>
              <a:defRPr/>
            </a:pPr>
            <a:r>
              <a:rPr b="1"/>
              <a:t>Long-Term</a:t>
            </a:r>
            <a:r>
              <a:rPr/>
              <a:t>: Expand nixWRehosT into a fully automated system</a:t>
            </a:r>
            <a:endParaRPr/>
          </a:p>
          <a:p>
            <a:pPr>
              <a:defRPr/>
            </a:pPr>
            <a:r>
              <a:rPr/>
              <a:t>Independent study w/ advisor? </a:t>
            </a:r>
            <a:r>
              <a:rPr lang="en-US" sz="2400" b="0" i="0" u="none" strike="noStrike" cap="none" spc="0">
                <a:solidFill>
                  <a:schemeClr val="tx1"/>
                </a:solidFill>
                <a:highlight>
                  <a:srgbClr val="FFFF00"/>
                </a:highlight>
                <a:latin typeface="Franklin Gothic Book"/>
                <a:ea typeface="Franklin Gothic Book"/>
                <a:cs typeface="Franklin Gothic Book"/>
              </a:rPr>
              <a:t>🤔</a:t>
            </a:r>
            <a:endParaRPr/>
          </a:p>
          <a:p>
            <a:pPr>
              <a:defRPr/>
            </a:pPr>
            <a:r>
              <a:rPr/>
              <a:t>Access the repo with: </a:t>
            </a:r>
            <a:endParaRPr lang="en-US" sz="2200" b="0" i="0" u="none" strike="noStrike" cap="none" spc="0">
              <a:solidFill>
                <a:schemeClr val="tx1"/>
              </a:solidFill>
              <a:latin typeface="Franklin Gothic Book"/>
              <a:ea typeface="Franklin Gothic Book"/>
              <a:cs typeface="Franklin Gothic Book"/>
            </a:endParaRPr>
          </a:p>
          <a:p>
            <a:pPr lvl="1">
              <a:defRPr/>
            </a:pPr>
            <a:r>
              <a:rPr lang="en-US" sz="2400" b="0" i="0" u="sng" strike="noStrike" cap="none" spc="0">
                <a:solidFill>
                  <a:schemeClr val="tx1"/>
                </a:solidFill>
                <a:latin typeface="Franklin Gothic Book"/>
                <a:ea typeface="Franklin Gothic Book"/>
                <a:cs typeface="Franklin Gothic Book"/>
                <a:hlinkClick r:id="rId3" tooltip=""/>
              </a:rPr>
              <a:t>https://github.com/winstonwumbo/cse-597-nixWRehosT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Franklin Gothic Book"/>
                <a:ea typeface="Franklin Gothic Book"/>
                <a:cs typeface="Franklin Gothic Book"/>
              </a:rPr>
              <a:t> </a:t>
            </a:r>
            <a:r>
              <a:rPr sz="2600"/>
              <a:t> </a:t>
            </a:r>
            <a:endParaRPr sz="3600"/>
          </a:p>
        </p:txBody>
      </p:sp>
      <p:sp>
        <p:nvSpPr>
          <p:cNvPr id="126455778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776B18-F31D-C661-2250-53EA5F861053}" type="slidenum">
              <a:rPr lang="en-US"/>
              <a:t/>
            </a:fld>
            <a:endParaRPr lang="en-US"/>
          </a:p>
        </p:txBody>
      </p:sp>
      <p:pic>
        <p:nvPicPr>
          <p:cNvPr id="182547076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990856" y="1852618"/>
            <a:ext cx="5020474" cy="30384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8546205" name="Title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References</a:t>
            </a:r>
            <a:endParaRPr/>
          </a:p>
        </p:txBody>
      </p:sp>
      <p:sp>
        <p:nvSpPr>
          <p:cNvPr id="1105912415" name="Content Placeholder 2"/>
          <p:cNvSpPr>
            <a:spLocks noGrp="1"/>
          </p:cNvSpPr>
          <p:nvPr>
            <p:ph idx="1" hasCustomPrompt="1"/>
          </p:nvPr>
        </p:nvSpPr>
        <p:spPr bwMode="auto">
          <a:xfrm>
            <a:off x="1066799" y="1825624"/>
            <a:ext cx="10056812" cy="3736974"/>
          </a:xfrm>
        </p:spPr>
        <p:txBody>
          <a:bodyPr/>
          <a:lstStyle>
            <a:lvl2pPr marL="777240" indent="-182880">
              <a:defRPr/>
            </a:lvl2pPr>
          </a:lstStyle>
          <a:p>
            <a:pPr>
              <a:defRPr/>
            </a:pPr>
            <a:r>
              <a:rPr/>
              <a:t>[1] </a:t>
            </a:r>
            <a:r>
              <a:rPr lang="en-US" sz="2800" b="0" i="0" u="sng" strike="noStrike" cap="none" spc="0">
                <a:solidFill>
                  <a:schemeClr val="tx1"/>
                </a:solidFill>
                <a:latin typeface="Franklin Gothic Book"/>
                <a:ea typeface="Franklin Gothic Book"/>
                <a:cs typeface="Franklin Gothic Book"/>
                <a:hlinkClick r:id="rId3" tooltip=""/>
              </a:rPr>
              <a:t>https://github.com/tuhhosg/reupnix</a:t>
            </a:r>
            <a:endParaRPr/>
          </a:p>
          <a:p>
            <a:pPr>
              <a:defRPr/>
            </a:pPr>
            <a:r>
              <a:rPr/>
              <a:t>[2] </a:t>
            </a:r>
            <a:r>
              <a:rPr lang="en-US" sz="2800" b="0" i="0" u="sng" strike="noStrike" cap="none" spc="0">
                <a:solidFill>
                  <a:schemeClr val="tx1"/>
                </a:solidFill>
                <a:latin typeface="Franklin Gothic Book"/>
                <a:ea typeface="Franklin Gothic Book"/>
                <a:cs typeface="Franklin Gothic Book"/>
                <a:hlinkClick r:id="rId4" tooltip=""/>
              </a:rPr>
              <a:t>https://uu.diva-portal.org/smash/get/diva2:2002562/FULLTEXT01.pdf</a:t>
            </a:r>
            <a:endParaRPr/>
          </a:p>
          <a:p>
            <a:pPr>
              <a:defRPr/>
            </a:pPr>
            <a:r>
              <a:rPr/>
              <a:t>[3]</a:t>
            </a:r>
            <a:r>
              <a:rPr lang="en-US" sz="2800" b="0" i="0" u="sng" strike="noStrike" cap="none" spc="0">
                <a:solidFill>
                  <a:schemeClr val="tx1"/>
                </a:solidFill>
                <a:latin typeface="Franklin Gothic Book"/>
                <a:ea typeface="Franklin Gothic Book"/>
                <a:cs typeface="Franklin Gothic Book"/>
                <a:hlinkClick r:id="rId5" tooltip=""/>
              </a:rPr>
              <a:t>https://www.utupub.fi/bitstream/handle/10024/180653/Korte_Eino_Thesis.pdf</a:t>
            </a:r>
            <a:endParaRPr/>
          </a:p>
          <a:p>
            <a:pPr>
              <a:defRPr/>
            </a:pPr>
            <a:r>
              <a:rPr/>
              <a:t>[4] </a:t>
            </a:r>
            <a:r>
              <a:rPr lang="en-US" sz="2800" b="0" i="0" u="sng" strike="noStrike" cap="none" spc="0">
                <a:solidFill>
                  <a:schemeClr val="tx1"/>
                </a:solidFill>
                <a:latin typeface="Franklin Gothic Book"/>
                <a:ea typeface="Franklin Gothic Book"/>
                <a:cs typeface="Franklin Gothic Book"/>
                <a:hlinkClick r:id="rId6" tooltip=""/>
              </a:rPr>
              <a:t>https://github.com/anduril/jetpack-nixos</a:t>
            </a:r>
            <a:endParaRPr/>
          </a:p>
          <a:p>
            <a:pPr>
              <a:defRPr/>
            </a:pPr>
            <a:r>
              <a:rPr/>
              <a:t>[5] </a:t>
            </a:r>
            <a:r>
              <a:rPr lang="en-US" sz="2800" b="0" i="0" u="sng" strike="noStrike" cap="none" spc="0">
                <a:solidFill>
                  <a:schemeClr val="tx1"/>
                </a:solidFill>
                <a:latin typeface="Franklin Gothic Book"/>
                <a:ea typeface="Franklin Gothic Book"/>
                <a:cs typeface="Franklin Gothic Book"/>
                <a:hlinkClick r:id="rId7" tooltip=""/>
              </a:rPr>
              <a:t>https://github.com/vkleen/nixwrt</a:t>
            </a:r>
            <a:r>
              <a:rPr/>
              <a:t> </a:t>
            </a:r>
            <a:endParaRPr/>
          </a:p>
        </p:txBody>
      </p:sp>
      <p:sp>
        <p:nvSpPr>
          <p:cNvPr id="74029834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10AD4C-CF12-04DF-C2EF-CCB7EAFE6630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3697828" name="Title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References</a:t>
            </a:r>
            <a:endParaRPr/>
          </a:p>
        </p:txBody>
      </p:sp>
      <p:sp>
        <p:nvSpPr>
          <p:cNvPr id="2048894021" name="Content Placeholder 2"/>
          <p:cNvSpPr>
            <a:spLocks noGrp="1"/>
          </p:cNvSpPr>
          <p:nvPr>
            <p:ph idx="1" hasCustomPrompt="1"/>
          </p:nvPr>
        </p:nvSpPr>
        <p:spPr bwMode="auto">
          <a:xfrm>
            <a:off x="1066799" y="1825624"/>
            <a:ext cx="10056812" cy="3736974"/>
          </a:xfrm>
        </p:spPr>
        <p:txBody>
          <a:bodyPr/>
          <a:lstStyle>
            <a:lvl2pPr marL="777240" indent="-182880">
              <a:defRPr/>
            </a:lvl2pPr>
          </a:lstStyle>
          <a:p>
            <a:pPr>
              <a:defRPr/>
            </a:pPr>
            <a:r>
              <a:rPr/>
              <a:t>[6]</a:t>
            </a:r>
            <a:r>
              <a:rPr lang="en-US" sz="2800" b="0" i="0" u="sng" strike="noStrike" cap="none" spc="0">
                <a:solidFill>
                  <a:schemeClr val="tx1"/>
                </a:solidFill>
                <a:latin typeface="Franklin Gothic Book"/>
                <a:ea typeface="Franklin Gothic Book"/>
                <a:cs typeface="Franklin Gothic Book"/>
                <a:hlinkClick r:id="rId3" tooltip=""/>
              </a:rPr>
              <a:t>https://www.usenix.org/conference/usenixsecurity23/presentation/tay</a:t>
            </a:r>
            <a:r>
              <a:rPr/>
              <a:t> </a:t>
            </a:r>
            <a:endParaRPr/>
          </a:p>
          <a:p>
            <a:pPr>
              <a:defRPr/>
            </a:pPr>
            <a:r>
              <a:rPr/>
              <a:t>[7] </a:t>
            </a:r>
            <a:r>
              <a:rPr lang="en-US" sz="2800" b="0" i="0" u="sng" strike="noStrike" cap="none" spc="0">
                <a:solidFill>
                  <a:schemeClr val="tx1"/>
                </a:solidFill>
                <a:latin typeface="Franklin Gothic Book"/>
                <a:ea typeface="Franklin Gothic Book"/>
                <a:cs typeface="Franklin Gothic Book"/>
                <a:hlinkClick r:id="rId4" tooltip=""/>
              </a:rPr>
              <a:t>https://www.ndss-symposium.org/ndss-paper/auto-draft-634/</a:t>
            </a:r>
            <a:endParaRPr/>
          </a:p>
          <a:p>
            <a:pPr>
              <a:defRPr/>
            </a:pPr>
            <a:r>
              <a:rPr/>
              <a:t>[8]</a:t>
            </a:r>
            <a:r>
              <a:rPr lang="en-US" sz="2800" b="0" i="0" u="sng" strike="noStrike" cap="none" spc="0">
                <a:solidFill>
                  <a:schemeClr val="tx1"/>
                </a:solidFill>
                <a:latin typeface="Franklin Gothic Book"/>
                <a:ea typeface="Franklin Gothic Book"/>
                <a:cs typeface="Franklin Gothic Book"/>
                <a:hlinkClick r:id="rId5" tooltip=""/>
              </a:rPr>
              <a:t>https://www.usenix.org/conference/usenixsecurity24/presentation/angelakopoulos</a:t>
            </a:r>
            <a:endParaRPr/>
          </a:p>
          <a:p>
            <a:pPr>
              <a:defRPr/>
            </a:pPr>
            <a:endParaRPr/>
          </a:p>
        </p:txBody>
      </p:sp>
      <p:sp>
        <p:nvSpPr>
          <p:cNvPr id="146091219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E36D61F-14EE-D18F-30CC-C7CB4D0B931A}" type="slidenum">
              <a:rPr lang="en-US"/>
              <a:t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PSU Shield Overlay Basic Theme">
  <a:themeElements>
    <a:clrScheme name="PSU Base Color Theme">
      <a:dk1>
        <a:srgbClr val="262626"/>
      </a:dk1>
      <a:lt1>
        <a:srgbClr val="FFFFFF"/>
      </a:lt1>
      <a:dk2>
        <a:srgbClr val="1E407C"/>
      </a:dk2>
      <a:lt2>
        <a:srgbClr val="E6F7FF"/>
      </a:lt2>
      <a:accent1>
        <a:srgbClr val="009CDE"/>
      </a:accent1>
      <a:accent2>
        <a:srgbClr val="1E407C"/>
      </a:accent2>
      <a:accent3>
        <a:srgbClr val="A2AAAD"/>
      </a:accent3>
      <a:accent4>
        <a:srgbClr val="96BEE6"/>
      </a:accent4>
      <a:accent5>
        <a:srgbClr val="3EA39E"/>
      </a:accent5>
      <a:accent6>
        <a:srgbClr val="304D64"/>
      </a:accent6>
      <a:hlink>
        <a:srgbClr val="005FA9"/>
      </a:hlink>
      <a:folHlink>
        <a:srgbClr val="AC8DCE"/>
      </a:folHlink>
    </a:clrScheme>
    <a:fontScheme name="Franklin Gothic">
      <a:majorFont>
        <a:latin typeface="Franklin Gothic Medium"/>
        <a:ea typeface="Arial"/>
        <a:cs typeface="Arial"/>
      </a:majorFont>
      <a:minorFont>
        <a:latin typeface="Franklin Gothic Book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tx2"/>
        </a:solidFill>
        <a:ln>
          <a:noFill/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prstGeom prst="rect">
          <a:avLst/>
        </a:prstGeom>
        <a:ln cmpd="sng">
          <a:solidFill>
            <a:schemeClr val="tx2"/>
          </a:solidFill>
          <a:tailEnd type="non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ONLYOFFICE/9.2.0.100</Application>
  <PresentationFormat>On-screen Show (4:3)</PresentationFormat>
  <Paragraphs>0</Paragraphs>
  <Slides>17</Slides>
  <Notes>17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Manager/>
  <Company>Penn State</Company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Penn State Shield Overlay Template</dc:title>
  <dc:subject/>
  <dc:creator>Penn State Strategic Communications</dc:creator>
  <cp:keywords>basic, brand, layout, Penn State, PowerPoint, presentation, template</cp:keywords>
  <dc:description/>
  <cp:lastModifiedBy/>
  <cp:revision>14</cp:revision>
  <dcterms:created xsi:type="dcterms:W3CDTF">2025-06-09T18:34:22Z</dcterms:created>
  <dcterms:modified xsi:type="dcterms:W3CDTF">2025-12-12T16:00:36Z</dcterms:modified>
  <cp:category>Template</cp:category>
</cp:coreProperties>
</file>